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0" r:id="rId12"/>
    <p:sldId id="266" r:id="rId13"/>
    <p:sldId id="267" r:id="rId14"/>
    <p:sldId id="268" r:id="rId15"/>
    <p:sldId id="269" r:id="rId16"/>
  </p:sldIdLst>
  <p:sldSz cx="18288000" cy="10287000"/>
  <p:notesSz cx="6858000" cy="9144000"/>
  <p:embeddedFontLst>
    <p:embeddedFont>
      <p:font typeface="Times New Roman Bold" panose="02020803070505020304" pitchFamily="18" charset="0"/>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researchgate.net/publication/381548370_Citation_Bello_OA_2023_Machine_Learning_Algorithms_for_Credit_Risk_Assessment_An_Economic_and_Financial_Analysis" TargetMode="External"/><Relationship Id="rId7" Type="http://schemas.openxmlformats.org/officeDocument/2006/relationships/hyperlink" Target="https://www.researchgate.net/publication/393739409_Data-Driven_Loan_Default_Prediction_A_Machine_Learning_Approach_for_Enhancing_Business_Process_Management"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www.researchgate.net/publication/393147041_Machine_learning_for_credit_scoring_and_loan_default_prediction_using_behavioral_and_transactional_financial_data" TargetMode="External"/><Relationship Id="rId5" Type="http://schemas.openxmlformats.org/officeDocument/2006/relationships/hyperlink" Target="https://www.researchgate.net/publication/397706289_Machine_learning_powered_financial_credit_scoring_a_systematic_literature_review" TargetMode="External"/><Relationship Id="rId4" Type="http://schemas.openxmlformats.org/officeDocument/2006/relationships/hyperlink" Target="https://www.researchgate.net/publication/398790846_Balancing_Fairness_and_Accuracy_in_Machine_Learning-Based_Probability_of_Default_Modeling_via_Threshold_Optimization"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844" y="108318"/>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grpSp>
        <p:nvGrpSpPr>
          <p:cNvPr id="6" name="Group 6"/>
          <p:cNvGrpSpPr/>
          <p:nvPr/>
        </p:nvGrpSpPr>
        <p:grpSpPr>
          <a:xfrm>
            <a:off x="16002000" y="225704"/>
            <a:ext cx="2071868" cy="1024357"/>
            <a:chOff x="0" y="0"/>
            <a:chExt cx="2762491" cy="1365809"/>
          </a:xfrm>
        </p:grpSpPr>
        <p:sp>
          <p:nvSpPr>
            <p:cNvPr id="7" name="Freeform 7"/>
            <p:cNvSpPr/>
            <p:nvPr/>
          </p:nvSpPr>
          <p:spPr>
            <a:xfrm>
              <a:off x="0" y="0"/>
              <a:ext cx="2762504" cy="1365758"/>
            </a:xfrm>
            <a:custGeom>
              <a:avLst/>
              <a:gdLst/>
              <a:ahLst/>
              <a:cxnLst/>
              <a:rect l="l" t="t" r="r" b="b"/>
              <a:pathLst>
                <a:path w="2762504" h="1365758">
                  <a:moveTo>
                    <a:pt x="0" y="0"/>
                  </a:moveTo>
                  <a:lnTo>
                    <a:pt x="2762504" y="0"/>
                  </a:lnTo>
                  <a:lnTo>
                    <a:pt x="2762504" y="1365758"/>
                  </a:lnTo>
                  <a:lnTo>
                    <a:pt x="0" y="1365758"/>
                  </a:lnTo>
                  <a:close/>
                </a:path>
              </a:pathLst>
            </a:custGeom>
            <a:solidFill>
              <a:srgbClr val="FFFFFF"/>
            </a:solidFill>
            <a:ln w="12700">
              <a:solidFill>
                <a:srgbClr val="000000"/>
              </a:solidFill>
            </a:ln>
          </p:spPr>
          <p:txBody>
            <a:bodyPr/>
            <a:lstStyle/>
            <a:p>
              <a:endParaRPr lang="en-US"/>
            </a:p>
          </p:txBody>
        </p:sp>
      </p:grpSp>
      <p:grpSp>
        <p:nvGrpSpPr>
          <p:cNvPr id="8" name="Group 8"/>
          <p:cNvGrpSpPr/>
          <p:nvPr/>
        </p:nvGrpSpPr>
        <p:grpSpPr>
          <a:xfrm>
            <a:off x="457248" y="189166"/>
            <a:ext cx="1314259" cy="2237518"/>
            <a:chOff x="0" y="0"/>
            <a:chExt cx="1752346" cy="2983357"/>
          </a:xfrm>
        </p:grpSpPr>
        <p:sp>
          <p:nvSpPr>
            <p:cNvPr id="9" name="Freeform 9" descr="A picture containing text, sign, outdoor  Description automatically generated"/>
            <p:cNvSpPr/>
            <p:nvPr/>
          </p:nvSpPr>
          <p:spPr>
            <a:xfrm>
              <a:off x="0" y="0"/>
              <a:ext cx="1752346" cy="2983357"/>
            </a:xfrm>
            <a:custGeom>
              <a:avLst/>
              <a:gdLst/>
              <a:ahLst/>
              <a:cxnLst/>
              <a:rect l="l" t="t" r="r" b="b"/>
              <a:pathLst>
                <a:path w="1752346" h="2983357">
                  <a:moveTo>
                    <a:pt x="0" y="0"/>
                  </a:moveTo>
                  <a:lnTo>
                    <a:pt x="1752346" y="0"/>
                  </a:lnTo>
                  <a:lnTo>
                    <a:pt x="1752346" y="2983357"/>
                  </a:lnTo>
                  <a:lnTo>
                    <a:pt x="0" y="2983357"/>
                  </a:lnTo>
                  <a:lnTo>
                    <a:pt x="0" y="0"/>
                  </a:lnTo>
                  <a:close/>
                </a:path>
              </a:pathLst>
            </a:custGeom>
            <a:blipFill>
              <a:blip r:embed="rId3"/>
              <a:stretch>
                <a:fillRect t="-118" b="-117"/>
              </a:stretch>
            </a:blipFill>
          </p:spPr>
          <p:txBody>
            <a:bodyPr/>
            <a:lstStyle/>
            <a:p>
              <a:endParaRPr lang="en-US"/>
            </a:p>
          </p:txBody>
        </p:sp>
      </p:grpSp>
      <p:grpSp>
        <p:nvGrpSpPr>
          <p:cNvPr id="10" name="Group 10"/>
          <p:cNvGrpSpPr/>
          <p:nvPr/>
        </p:nvGrpSpPr>
        <p:grpSpPr>
          <a:xfrm>
            <a:off x="11423571" y="215532"/>
            <a:ext cx="6650298" cy="2147830"/>
            <a:chOff x="0" y="0"/>
            <a:chExt cx="8867064" cy="2863774"/>
          </a:xfrm>
        </p:grpSpPr>
        <p:sp>
          <p:nvSpPr>
            <p:cNvPr id="11" name="Freeform 11" descr="A picture containing text, clipart  Description automatically generated"/>
            <p:cNvSpPr/>
            <p:nvPr/>
          </p:nvSpPr>
          <p:spPr>
            <a:xfrm>
              <a:off x="0" y="0"/>
              <a:ext cx="8867013" cy="2863723"/>
            </a:xfrm>
            <a:custGeom>
              <a:avLst/>
              <a:gdLst/>
              <a:ahLst/>
              <a:cxnLst/>
              <a:rect l="l" t="t" r="r" b="b"/>
              <a:pathLst>
                <a:path w="8867013" h="2863723">
                  <a:moveTo>
                    <a:pt x="0" y="0"/>
                  </a:moveTo>
                  <a:lnTo>
                    <a:pt x="8867013" y="0"/>
                  </a:lnTo>
                  <a:lnTo>
                    <a:pt x="8867013" y="2863723"/>
                  </a:lnTo>
                  <a:lnTo>
                    <a:pt x="0" y="2863723"/>
                  </a:lnTo>
                  <a:lnTo>
                    <a:pt x="0" y="0"/>
                  </a:lnTo>
                  <a:close/>
                </a:path>
              </a:pathLst>
            </a:custGeom>
            <a:blipFill>
              <a:blip r:embed="rId2"/>
              <a:stretch>
                <a:fillRect t="-16503" b="-16504"/>
              </a:stretch>
            </a:blipFill>
          </p:spPr>
          <p:txBody>
            <a:bodyPr/>
            <a:lstStyle/>
            <a:p>
              <a:endParaRPr lang="en-US"/>
            </a:p>
          </p:txBody>
        </p:sp>
      </p:grpSp>
      <p:sp>
        <p:nvSpPr>
          <p:cNvPr id="12" name="TextBox 12"/>
          <p:cNvSpPr txBox="1"/>
          <p:nvPr/>
        </p:nvSpPr>
        <p:spPr>
          <a:xfrm>
            <a:off x="6096001" y="2641368"/>
            <a:ext cx="5793870" cy="1266825"/>
          </a:xfrm>
          <a:prstGeom prst="rect">
            <a:avLst/>
          </a:prstGeom>
        </p:spPr>
        <p:txBody>
          <a:bodyPr wrap="square" lIns="0" tIns="0" rIns="0" bIns="0" rtlCol="0" anchor="t">
            <a:spAutoFit/>
          </a:bodyPr>
          <a:lstStyle/>
          <a:p>
            <a:pPr algn="l">
              <a:lnSpc>
                <a:spcPts val="9720"/>
              </a:lnSpc>
            </a:pPr>
            <a:r>
              <a:rPr lang="en-US" sz="8100">
                <a:solidFill>
                  <a:srgbClr val="000000"/>
                </a:solidFill>
                <a:latin typeface="Times New Roman"/>
                <a:ea typeface="Times New Roman"/>
                <a:cs typeface="Times New Roman"/>
                <a:sym typeface="Times New Roman"/>
              </a:rPr>
              <a:t>MinorProject</a:t>
            </a:r>
          </a:p>
        </p:txBody>
      </p:sp>
      <p:sp>
        <p:nvSpPr>
          <p:cNvPr id="13" name="TextBox 13"/>
          <p:cNvSpPr txBox="1"/>
          <p:nvPr/>
        </p:nvSpPr>
        <p:spPr>
          <a:xfrm>
            <a:off x="1475318" y="4195724"/>
            <a:ext cx="15783982" cy="3129269"/>
          </a:xfrm>
          <a:prstGeom prst="rect">
            <a:avLst/>
          </a:prstGeom>
        </p:spPr>
        <p:txBody>
          <a:bodyPr lIns="0" tIns="0" rIns="0" bIns="0" rtlCol="0" anchor="t">
            <a:spAutoFit/>
          </a:bodyPr>
          <a:lstStyle/>
          <a:p>
            <a:pPr algn="ctr">
              <a:lnSpc>
                <a:spcPts val="6167"/>
              </a:lnSpc>
            </a:pPr>
            <a:r>
              <a:rPr lang="en-US" sz="5139" dirty="0">
                <a:solidFill>
                  <a:srgbClr val="000000"/>
                </a:solidFill>
                <a:latin typeface="Times New Roman"/>
                <a:ea typeface="Times New Roman"/>
                <a:cs typeface="Times New Roman"/>
                <a:sym typeface="Times New Roman"/>
              </a:rPr>
              <a:t>Title : Data-Driven Credit Risk Modelling for Financial Decision-Making</a:t>
            </a:r>
          </a:p>
          <a:p>
            <a:pPr algn="l">
              <a:lnSpc>
                <a:spcPts val="6167"/>
              </a:lnSpc>
            </a:pPr>
            <a:endParaRPr lang="en-US" sz="5139" dirty="0">
              <a:solidFill>
                <a:srgbClr val="000000"/>
              </a:solidFill>
              <a:latin typeface="Times New Roman"/>
              <a:ea typeface="Times New Roman"/>
              <a:cs typeface="Times New Roman"/>
              <a:sym typeface="Times New Roman"/>
            </a:endParaRPr>
          </a:p>
          <a:p>
            <a:pPr algn="l">
              <a:lnSpc>
                <a:spcPts val="6167"/>
              </a:lnSpc>
            </a:pPr>
            <a:endParaRPr lang="en-US" sz="5139" dirty="0">
              <a:solidFill>
                <a:srgbClr val="000000"/>
              </a:solidFill>
              <a:latin typeface="Times New Roman"/>
              <a:ea typeface="Times New Roman"/>
              <a:cs typeface="Times New Roman"/>
              <a:sym typeface="Times New Roman"/>
            </a:endParaRPr>
          </a:p>
        </p:txBody>
      </p:sp>
      <p:sp>
        <p:nvSpPr>
          <p:cNvPr id="14" name="TextBox 14"/>
          <p:cNvSpPr txBox="1"/>
          <p:nvPr/>
        </p:nvSpPr>
        <p:spPr>
          <a:xfrm>
            <a:off x="548688" y="7735443"/>
            <a:ext cx="8963606" cy="2828925"/>
          </a:xfrm>
          <a:prstGeom prst="rect">
            <a:avLst/>
          </a:prstGeom>
        </p:spPr>
        <p:txBody>
          <a:bodyPr lIns="0" tIns="0" rIns="0" bIns="0" rtlCol="0" anchor="t">
            <a:spAutoFit/>
          </a:bodyPr>
          <a:lstStyle/>
          <a:p>
            <a:pPr algn="l">
              <a:lnSpc>
                <a:spcPts val="3719"/>
              </a:lnSpc>
            </a:pPr>
            <a:r>
              <a:rPr lang="en-US" sz="3099">
                <a:solidFill>
                  <a:srgbClr val="000000"/>
                </a:solidFill>
                <a:latin typeface="Times New Roman"/>
                <a:ea typeface="Times New Roman"/>
                <a:cs typeface="Times New Roman"/>
                <a:sym typeface="Times New Roman"/>
              </a:rPr>
              <a:t>Presented by: Sanchit Panwar 500123669</a:t>
            </a:r>
          </a:p>
          <a:p>
            <a:pPr algn="l">
              <a:lnSpc>
                <a:spcPts val="3719"/>
              </a:lnSpc>
            </a:pPr>
            <a:r>
              <a:rPr lang="en-US" sz="3099">
                <a:solidFill>
                  <a:srgbClr val="000000"/>
                </a:solidFill>
                <a:latin typeface="Times New Roman"/>
                <a:ea typeface="Times New Roman"/>
                <a:cs typeface="Times New Roman"/>
                <a:sym typeface="Times New Roman"/>
              </a:rPr>
              <a:t>                       Aayush Kumar 500122815</a:t>
            </a:r>
          </a:p>
          <a:p>
            <a:pPr algn="l">
              <a:lnSpc>
                <a:spcPts val="3719"/>
              </a:lnSpc>
            </a:pPr>
            <a:r>
              <a:rPr lang="en-US" sz="3099">
                <a:solidFill>
                  <a:srgbClr val="000000"/>
                </a:solidFill>
                <a:latin typeface="Times New Roman"/>
                <a:ea typeface="Times New Roman"/>
                <a:cs typeface="Times New Roman"/>
                <a:sym typeface="Times New Roman"/>
              </a:rPr>
              <a:t>                       Saksham Raj    500121902</a:t>
            </a:r>
          </a:p>
          <a:p>
            <a:pPr algn="l">
              <a:lnSpc>
                <a:spcPts val="3719"/>
              </a:lnSpc>
            </a:pPr>
            <a:endParaRPr lang="en-US" sz="3099">
              <a:solidFill>
                <a:srgbClr val="000000"/>
              </a:solidFill>
              <a:latin typeface="Times New Roman"/>
              <a:ea typeface="Times New Roman"/>
              <a:cs typeface="Times New Roman"/>
              <a:sym typeface="Times New Roman"/>
            </a:endParaRPr>
          </a:p>
          <a:p>
            <a:pPr algn="l">
              <a:lnSpc>
                <a:spcPts val="3719"/>
              </a:lnSpc>
            </a:pPr>
            <a:endParaRPr lang="en-US" sz="3099">
              <a:solidFill>
                <a:srgbClr val="000000"/>
              </a:solidFill>
              <a:latin typeface="Times New Roman"/>
              <a:ea typeface="Times New Roman"/>
              <a:cs typeface="Times New Roman"/>
              <a:sym typeface="Times New Roman"/>
            </a:endParaRPr>
          </a:p>
          <a:p>
            <a:pPr algn="l">
              <a:lnSpc>
                <a:spcPts val="3719"/>
              </a:lnSpc>
            </a:pPr>
            <a:endParaRPr lang="en-US" sz="3099">
              <a:solidFill>
                <a:srgbClr val="000000"/>
              </a:solidFill>
              <a:latin typeface="Times New Roman"/>
              <a:ea typeface="Times New Roman"/>
              <a:cs typeface="Times New Roman"/>
              <a:sym typeface="Times New Roman"/>
            </a:endParaRPr>
          </a:p>
        </p:txBody>
      </p:sp>
      <p:sp>
        <p:nvSpPr>
          <p:cNvPr id="15" name="TextBox 15"/>
          <p:cNvSpPr txBox="1"/>
          <p:nvPr/>
        </p:nvSpPr>
        <p:spPr>
          <a:xfrm>
            <a:off x="11655217" y="7735443"/>
            <a:ext cx="8399764" cy="962025"/>
          </a:xfrm>
          <a:prstGeom prst="rect">
            <a:avLst/>
          </a:prstGeom>
        </p:spPr>
        <p:txBody>
          <a:bodyPr lIns="0" tIns="0" rIns="0" bIns="0" rtlCol="0" anchor="t">
            <a:spAutoFit/>
          </a:bodyPr>
          <a:lstStyle/>
          <a:p>
            <a:pPr algn="l">
              <a:lnSpc>
                <a:spcPts val="3719"/>
              </a:lnSpc>
            </a:pPr>
            <a:r>
              <a:rPr lang="en-US" sz="3099">
                <a:solidFill>
                  <a:srgbClr val="000000"/>
                </a:solidFill>
                <a:latin typeface="Times New Roman"/>
                <a:ea typeface="Times New Roman"/>
                <a:cs typeface="Times New Roman"/>
                <a:sym typeface="Times New Roman"/>
              </a:rPr>
              <a:t>Guided by: Dr. Surbhi Saraswat</a:t>
            </a:r>
          </a:p>
          <a:p>
            <a:pPr algn="l">
              <a:lnSpc>
                <a:spcPts val="3719"/>
              </a:lnSpc>
            </a:pPr>
            <a:endParaRPr lang="en-US" sz="3099">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034" y="108314"/>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
        <p:nvSpPr>
          <p:cNvPr id="6" name="TextBox 6"/>
          <p:cNvSpPr txBox="1"/>
          <p:nvPr/>
        </p:nvSpPr>
        <p:spPr>
          <a:xfrm>
            <a:off x="7162800" y="1257300"/>
            <a:ext cx="3146822" cy="971550"/>
          </a:xfrm>
          <a:prstGeom prst="rect">
            <a:avLst/>
          </a:prstGeom>
        </p:spPr>
        <p:txBody>
          <a:bodyPr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Abstract </a:t>
            </a:r>
          </a:p>
        </p:txBody>
      </p:sp>
      <p:sp>
        <p:nvSpPr>
          <p:cNvPr id="7" name="TextBox 7"/>
          <p:cNvSpPr txBox="1"/>
          <p:nvPr/>
        </p:nvSpPr>
        <p:spPr>
          <a:xfrm>
            <a:off x="2060939" y="3086100"/>
            <a:ext cx="14166122" cy="3800528"/>
          </a:xfrm>
          <a:prstGeom prst="rect">
            <a:avLst/>
          </a:prstGeom>
        </p:spPr>
        <p:txBody>
          <a:bodyPr wrap="square" lIns="0" tIns="0" rIns="0" bIns="0" rtlCol="0" anchor="t">
            <a:spAutoFit/>
          </a:bodyPr>
          <a:lstStyle/>
          <a:p>
            <a:pPr marL="347345" lvl="1">
              <a:lnSpc>
                <a:spcPct val="150000"/>
              </a:lnSpc>
            </a:pPr>
            <a:r>
              <a:rPr lang="en-US" sz="2800" dirty="0">
                <a:solidFill>
                  <a:srgbClr val="000000"/>
                </a:solidFill>
                <a:latin typeface="Times New Roman"/>
                <a:ea typeface="Times New Roman"/>
                <a:cs typeface="Times New Roman"/>
                <a:sym typeface="Times New Roman"/>
              </a:rPr>
              <a:t>Our project primarily focuses on predicting credit risk percentage and identifying the key factors that contribute to loan rejection. The machine learning models estimate the probability of default (PD) using three baseline algorithms: logistic regression, random forest, and gradient boosting, enabling improved assessment of risk conditions. This approach supports real-time decision-making, allowing borrowers to obtain emergency funds or business loans almost instantly through mobile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108314"/>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sp>
        <p:nvSpPr>
          <p:cNvPr id="4" name="TextBox 4"/>
          <p:cNvSpPr txBox="1"/>
          <p:nvPr/>
        </p:nvSpPr>
        <p:spPr>
          <a:xfrm>
            <a:off x="6781800" y="1000125"/>
            <a:ext cx="4512529" cy="908903"/>
          </a:xfrm>
          <a:prstGeom prst="rect">
            <a:avLst/>
          </a:prstGeom>
        </p:spPr>
        <p:txBody>
          <a:bodyPr wrap="square"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Introduction</a:t>
            </a:r>
          </a:p>
        </p:txBody>
      </p:sp>
      <p:grpSp>
        <p:nvGrpSpPr>
          <p:cNvPr id="5" name="Group 5"/>
          <p:cNvGrpSpPr/>
          <p:nvPr/>
        </p:nvGrpSpPr>
        <p:grpSpPr>
          <a:xfrm>
            <a:off x="16077133" y="191729"/>
            <a:ext cx="2004384" cy="811159"/>
            <a:chOff x="0" y="0"/>
            <a:chExt cx="2672512" cy="1081545"/>
          </a:xfrm>
        </p:grpSpPr>
        <p:sp>
          <p:nvSpPr>
            <p:cNvPr id="6" name="Freeform 6"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
        <p:nvSpPr>
          <p:cNvPr id="7" name="TextBox 7"/>
          <p:cNvSpPr txBox="1"/>
          <p:nvPr/>
        </p:nvSpPr>
        <p:spPr>
          <a:xfrm>
            <a:off x="609601" y="2247900"/>
            <a:ext cx="16916400" cy="6867265"/>
          </a:xfrm>
          <a:prstGeom prst="rect">
            <a:avLst/>
          </a:prstGeom>
        </p:spPr>
        <p:txBody>
          <a:bodyPr wrap="square" lIns="0" tIns="0" rIns="0" bIns="0" rtlCol="0" anchor="t">
            <a:spAutoFit/>
          </a:bodyPr>
          <a:lstStyle/>
          <a:p>
            <a:pPr marL="685126" lvl="1" indent="-342563" algn="just">
              <a:lnSpc>
                <a:spcPct val="150000"/>
              </a:lnSpc>
              <a:spcAft>
                <a:spcPts val="1200"/>
              </a:spcAft>
              <a:buFont typeface="Arial"/>
              <a:buChar char="•"/>
            </a:pPr>
            <a:r>
              <a:rPr lang="en-US" sz="3200" dirty="0">
                <a:solidFill>
                  <a:srgbClr val="000000"/>
                </a:solidFill>
                <a:latin typeface="Times New Roman"/>
                <a:ea typeface="Times New Roman"/>
                <a:cs typeface="Times New Roman"/>
                <a:sym typeface="Times New Roman"/>
              </a:rPr>
              <a:t>Credit risk assessment is essential for financial institutions to maintain stability, profitability, and sound lending decisions. It evaluates the likelihood that borrowers may default, helping banks protect their loan portfolios.</a:t>
            </a:r>
          </a:p>
          <a:p>
            <a:pPr marL="685126" lvl="1" indent="-342563" algn="just">
              <a:lnSpc>
                <a:spcPct val="150000"/>
              </a:lnSpc>
              <a:spcAft>
                <a:spcPts val="1200"/>
              </a:spcAft>
              <a:buFont typeface="Arial"/>
              <a:buChar char="•"/>
            </a:pPr>
            <a:r>
              <a:rPr lang="en-US" sz="3200" dirty="0">
                <a:solidFill>
                  <a:srgbClr val="000000"/>
                </a:solidFill>
                <a:latin typeface="Times New Roman"/>
                <a:ea typeface="Times New Roman"/>
                <a:cs typeface="Times New Roman"/>
                <a:sym typeface="Times New Roman"/>
              </a:rPr>
              <a:t>Traditional approaches such as credit scoring and statistical models often struggle with modern financial complexity and large-scale data. These methods rely heavily on historical trends and simplifying assumptions, which can limit accuracy.</a:t>
            </a:r>
          </a:p>
          <a:p>
            <a:pPr marL="685126" lvl="1" indent="-342563" algn="just">
              <a:lnSpc>
                <a:spcPct val="150000"/>
              </a:lnSpc>
              <a:spcAft>
                <a:spcPts val="1200"/>
              </a:spcAft>
              <a:buFont typeface="Arial"/>
              <a:buChar char="•"/>
            </a:pPr>
            <a:r>
              <a:rPr lang="en-US" sz="3200" dirty="0">
                <a:solidFill>
                  <a:srgbClr val="000000"/>
                </a:solidFill>
                <a:latin typeface="Times New Roman"/>
                <a:ea typeface="Times New Roman"/>
                <a:cs typeface="Times New Roman"/>
                <a:sym typeface="Times New Roman"/>
              </a:rPr>
              <a:t>Modern models analyze borrower profiles, loan characteristics, economic indicators, and market trends to detect hidden risk patterns. Machine learning methods can predict default probabilities more accurately and classify borrowers into risk categories.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844" y="108318"/>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
        <p:nvSpPr>
          <p:cNvPr id="7" name="TextBox 7"/>
          <p:cNvSpPr txBox="1"/>
          <p:nvPr/>
        </p:nvSpPr>
        <p:spPr>
          <a:xfrm>
            <a:off x="5791200" y="974312"/>
            <a:ext cx="6436935" cy="908903"/>
          </a:xfrm>
          <a:prstGeom prst="rect">
            <a:avLst/>
          </a:prstGeom>
        </p:spPr>
        <p:txBody>
          <a:bodyPr wrap="square"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Literature Review</a:t>
            </a:r>
          </a:p>
        </p:txBody>
      </p:sp>
      <p:sp>
        <p:nvSpPr>
          <p:cNvPr id="10" name="Rectangle 1">
            <a:extLst>
              <a:ext uri="{FF2B5EF4-FFF2-40B4-BE49-F238E27FC236}">
                <a16:creationId xmlns:a16="http://schemas.microsoft.com/office/drawing/2014/main" id="{5AE716B5-770A-766D-1002-6D2C94CD757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Rectangle 2">
            <a:extLst>
              <a:ext uri="{FF2B5EF4-FFF2-40B4-BE49-F238E27FC236}">
                <a16:creationId xmlns:a16="http://schemas.microsoft.com/office/drawing/2014/main" id="{25C7B57B-E360-A97D-AD28-4307017966A4}"/>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3" name="Picture 12">
            <a:extLst>
              <a:ext uri="{FF2B5EF4-FFF2-40B4-BE49-F238E27FC236}">
                <a16:creationId xmlns:a16="http://schemas.microsoft.com/office/drawing/2014/main" id="{BF54C87A-F0C0-ABCC-1BA2-686562F6A7BF}"/>
              </a:ext>
            </a:extLst>
          </p:cNvPr>
          <p:cNvPicPr>
            <a:picLocks noChangeAspect="1"/>
          </p:cNvPicPr>
          <p:nvPr/>
        </p:nvPicPr>
        <p:blipFill>
          <a:blip r:embed="rId3"/>
          <a:stretch>
            <a:fillRect/>
          </a:stretch>
        </p:blipFill>
        <p:spPr>
          <a:xfrm>
            <a:off x="1600200" y="2171700"/>
            <a:ext cx="15621000" cy="74193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108314"/>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
        <p:nvSpPr>
          <p:cNvPr id="6" name="Freeform 6"/>
          <p:cNvSpPr/>
          <p:nvPr/>
        </p:nvSpPr>
        <p:spPr>
          <a:xfrm>
            <a:off x="10065371" y="2247901"/>
            <a:ext cx="3373497" cy="6872191"/>
          </a:xfrm>
          <a:custGeom>
            <a:avLst/>
            <a:gdLst/>
            <a:ahLst/>
            <a:cxnLst/>
            <a:rect l="l" t="t" r="r" b="b"/>
            <a:pathLst>
              <a:path w="2659715" h="6370575">
                <a:moveTo>
                  <a:pt x="0" y="0"/>
                </a:moveTo>
                <a:lnTo>
                  <a:pt x="2659715" y="0"/>
                </a:lnTo>
                <a:lnTo>
                  <a:pt x="2659715" y="6370575"/>
                </a:lnTo>
                <a:lnTo>
                  <a:pt x="0" y="6370575"/>
                </a:lnTo>
                <a:lnTo>
                  <a:pt x="0" y="0"/>
                </a:lnTo>
                <a:close/>
              </a:path>
            </a:pathLst>
          </a:custGeom>
          <a:blipFill>
            <a:blip r:embed="rId3"/>
            <a:stretch>
              <a:fillRect/>
            </a:stretch>
          </a:blipFill>
        </p:spPr>
        <p:txBody>
          <a:bodyPr/>
          <a:lstStyle/>
          <a:p>
            <a:endParaRPr lang="en-US"/>
          </a:p>
        </p:txBody>
      </p:sp>
      <p:sp>
        <p:nvSpPr>
          <p:cNvPr id="7" name="Freeform 7"/>
          <p:cNvSpPr/>
          <p:nvPr/>
        </p:nvSpPr>
        <p:spPr>
          <a:xfrm>
            <a:off x="13827837" y="2247901"/>
            <a:ext cx="3921376" cy="6872191"/>
          </a:xfrm>
          <a:custGeom>
            <a:avLst/>
            <a:gdLst/>
            <a:ahLst/>
            <a:cxnLst/>
            <a:rect l="l" t="t" r="r" b="b"/>
            <a:pathLst>
              <a:path w="2246954" h="6032092">
                <a:moveTo>
                  <a:pt x="0" y="0"/>
                </a:moveTo>
                <a:lnTo>
                  <a:pt x="2246954" y="0"/>
                </a:lnTo>
                <a:lnTo>
                  <a:pt x="2246954" y="6032092"/>
                </a:lnTo>
                <a:lnTo>
                  <a:pt x="0" y="6032092"/>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7162801" y="1000125"/>
            <a:ext cx="3921376" cy="908903"/>
          </a:xfrm>
          <a:prstGeom prst="rect">
            <a:avLst/>
          </a:prstGeom>
        </p:spPr>
        <p:txBody>
          <a:bodyPr wrap="square"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Motivation</a:t>
            </a:r>
          </a:p>
        </p:txBody>
      </p:sp>
      <p:sp>
        <p:nvSpPr>
          <p:cNvPr id="9" name="TextBox 9"/>
          <p:cNvSpPr txBox="1"/>
          <p:nvPr/>
        </p:nvSpPr>
        <p:spPr>
          <a:xfrm>
            <a:off x="10881234" y="9400541"/>
            <a:ext cx="1904286" cy="497726"/>
          </a:xfrm>
          <a:prstGeom prst="rect">
            <a:avLst/>
          </a:prstGeom>
        </p:spPr>
        <p:txBody>
          <a:bodyPr lIns="0" tIns="0" rIns="0" bIns="0" rtlCol="0" anchor="t">
            <a:spAutoFit/>
          </a:bodyPr>
          <a:lstStyle/>
          <a:p>
            <a:pPr algn="ctr">
              <a:lnSpc>
                <a:spcPts val="3709"/>
              </a:lnSpc>
              <a:spcBef>
                <a:spcPct val="0"/>
              </a:spcBef>
            </a:pPr>
            <a:r>
              <a:rPr lang="en-US" sz="3091" b="1" dirty="0">
                <a:solidFill>
                  <a:srgbClr val="000000"/>
                </a:solidFill>
                <a:latin typeface="Times New Roman Bold"/>
                <a:ea typeface="Times New Roman Bold"/>
                <a:cs typeface="Times New Roman Bold"/>
                <a:sym typeface="Times New Roman Bold"/>
              </a:rPr>
              <a:t>Existing</a:t>
            </a:r>
          </a:p>
        </p:txBody>
      </p:sp>
      <p:sp>
        <p:nvSpPr>
          <p:cNvPr id="10" name="TextBox 10"/>
          <p:cNvSpPr txBox="1"/>
          <p:nvPr/>
        </p:nvSpPr>
        <p:spPr>
          <a:xfrm>
            <a:off x="14993489" y="9370174"/>
            <a:ext cx="1733022" cy="497726"/>
          </a:xfrm>
          <a:prstGeom prst="rect">
            <a:avLst/>
          </a:prstGeom>
        </p:spPr>
        <p:txBody>
          <a:bodyPr lIns="0" tIns="0" rIns="0" bIns="0" rtlCol="0" anchor="t">
            <a:spAutoFit/>
          </a:bodyPr>
          <a:lstStyle/>
          <a:p>
            <a:pPr algn="ctr">
              <a:lnSpc>
                <a:spcPts val="3704"/>
              </a:lnSpc>
              <a:spcBef>
                <a:spcPct val="0"/>
              </a:spcBef>
            </a:pPr>
            <a:r>
              <a:rPr lang="en-US" sz="3087" b="1" dirty="0">
                <a:solidFill>
                  <a:srgbClr val="000000"/>
                </a:solidFill>
                <a:latin typeface="Times New Roman Bold"/>
                <a:ea typeface="Times New Roman Bold"/>
                <a:cs typeface="Times New Roman Bold"/>
                <a:sym typeface="Times New Roman Bold"/>
              </a:rPr>
              <a:t>Proposed</a:t>
            </a:r>
          </a:p>
        </p:txBody>
      </p:sp>
      <p:sp>
        <p:nvSpPr>
          <p:cNvPr id="11" name="TextBox 11"/>
          <p:cNvSpPr txBox="1"/>
          <p:nvPr/>
        </p:nvSpPr>
        <p:spPr>
          <a:xfrm>
            <a:off x="466729" y="2018700"/>
            <a:ext cx="9372600" cy="7849200"/>
          </a:xfrm>
          <a:prstGeom prst="rect">
            <a:avLst/>
          </a:prstGeom>
        </p:spPr>
        <p:txBody>
          <a:bodyPr wrap="square" lIns="0" tIns="0" rIns="0" bIns="0" rtlCol="0" anchor="t">
            <a:spAutoFit/>
          </a:bodyPr>
          <a:lstStyle/>
          <a:p>
            <a:pPr marL="570037" lvl="1" indent="-285018" algn="just">
              <a:lnSpc>
                <a:spcPct val="150000"/>
              </a:lnSpc>
              <a:buFont typeface="Arial"/>
              <a:buChar char="•"/>
            </a:pPr>
            <a:r>
              <a:rPr lang="en-US" sz="2640" dirty="0">
                <a:solidFill>
                  <a:srgbClr val="000000"/>
                </a:solidFill>
                <a:latin typeface="Times New Roman"/>
                <a:ea typeface="Times New Roman"/>
                <a:cs typeface="Times New Roman"/>
                <a:sym typeface="Times New Roman"/>
              </a:rPr>
              <a:t>Traditional credit assessment relies on limited data and rule-based models, resulting in rigid scores and low transparency.</a:t>
            </a:r>
          </a:p>
          <a:p>
            <a:pPr marL="570037" lvl="1" indent="-285018" algn="just">
              <a:lnSpc>
                <a:spcPct val="150000"/>
              </a:lnSpc>
              <a:buFont typeface="Arial"/>
              <a:buChar char="•"/>
            </a:pPr>
            <a:r>
              <a:rPr lang="en-US" sz="2640" dirty="0">
                <a:solidFill>
                  <a:srgbClr val="000000"/>
                </a:solidFill>
                <a:latin typeface="Times New Roman"/>
                <a:ea typeface="Times New Roman"/>
                <a:cs typeface="Times New Roman"/>
                <a:sym typeface="Times New Roman"/>
              </a:rPr>
              <a:t>These methods struggle to capture complex borrower behavior and fail to explain decisions, reducing trust and financial inclusion.</a:t>
            </a:r>
          </a:p>
          <a:p>
            <a:pPr marL="570037" lvl="1" indent="-285018" algn="just">
              <a:lnSpc>
                <a:spcPct val="150000"/>
              </a:lnSpc>
              <a:buFont typeface="Arial"/>
              <a:buChar char="•"/>
            </a:pPr>
            <a:r>
              <a:rPr lang="en-US" sz="2640" dirty="0">
                <a:solidFill>
                  <a:srgbClr val="000000"/>
                </a:solidFill>
                <a:latin typeface="Times New Roman"/>
                <a:ea typeface="Times New Roman"/>
                <a:cs typeface="Times New Roman"/>
                <a:sym typeface="Times New Roman"/>
              </a:rPr>
              <a:t>Advanced machine learning models leverage rich digital data to estimate default probabilities more accurately and enable risk-aware lending.</a:t>
            </a:r>
          </a:p>
          <a:p>
            <a:pPr marL="570037" lvl="1" indent="-285018" algn="just">
              <a:lnSpc>
                <a:spcPct val="150000"/>
              </a:lnSpc>
              <a:buFont typeface="Arial"/>
              <a:buChar char="•"/>
            </a:pPr>
            <a:r>
              <a:rPr lang="en-US" sz="2640" dirty="0">
                <a:solidFill>
                  <a:srgbClr val="000000"/>
                </a:solidFill>
                <a:latin typeface="Times New Roman"/>
                <a:ea typeface="Times New Roman"/>
                <a:cs typeface="Times New Roman"/>
                <a:sym typeface="Times New Roman"/>
              </a:rPr>
              <a:t>Incorporating interpretability and personalized feedback supports regulatory compliance and improves customer understanding.</a:t>
            </a:r>
          </a:p>
          <a:p>
            <a:pPr marL="570037" lvl="1" indent="-285018" algn="just">
              <a:lnSpc>
                <a:spcPct val="150000"/>
              </a:lnSpc>
              <a:buFont typeface="Arial"/>
              <a:buChar char="•"/>
            </a:pPr>
            <a:r>
              <a:rPr lang="en-US" sz="2640" dirty="0">
                <a:solidFill>
                  <a:srgbClr val="000000"/>
                </a:solidFill>
                <a:latin typeface="Times New Roman"/>
                <a:ea typeface="Times New Roman"/>
                <a:cs typeface="Times New Roman"/>
                <a:sym typeface="Times New Roman"/>
              </a:rPr>
              <a:t>The project aims to modernize credit risk evaluation through an accurate, explainable, and data-driven system benefiting both lenders and borrowers.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108314"/>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sp>
        <p:nvSpPr>
          <p:cNvPr id="4" name="TextBox 4"/>
          <p:cNvSpPr txBox="1"/>
          <p:nvPr/>
        </p:nvSpPr>
        <p:spPr>
          <a:xfrm>
            <a:off x="4876800" y="1181100"/>
            <a:ext cx="7040118" cy="908903"/>
          </a:xfrm>
          <a:prstGeom prst="rect">
            <a:avLst/>
          </a:prstGeom>
        </p:spPr>
        <p:txBody>
          <a:bodyPr wrap="square"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Problem Statement</a:t>
            </a:r>
          </a:p>
        </p:txBody>
      </p:sp>
      <p:sp>
        <p:nvSpPr>
          <p:cNvPr id="5" name="TextBox 5"/>
          <p:cNvSpPr txBox="1"/>
          <p:nvPr/>
        </p:nvSpPr>
        <p:spPr>
          <a:xfrm>
            <a:off x="1447800" y="2826649"/>
            <a:ext cx="15849600" cy="5717399"/>
          </a:xfrm>
          <a:prstGeom prst="rect">
            <a:avLst/>
          </a:prstGeom>
        </p:spPr>
        <p:txBody>
          <a:bodyPr wrap="square" lIns="0" tIns="0" rIns="0" bIns="0" rtlCol="0" anchor="t">
            <a:spAutoFit/>
          </a:bodyPr>
          <a:lstStyle/>
          <a:p>
            <a:pPr algn="just">
              <a:lnSpc>
                <a:spcPct val="150000"/>
              </a:lnSpc>
              <a:spcBef>
                <a:spcPct val="0"/>
              </a:spcBef>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Existing credit scoring systems either lack prediction accuracy or fail to provide interpretable and well-calibrated probability estimates. Many systems also do not guide rejected or high-risk applicants on how to improve their eligibility. </a:t>
            </a:r>
          </a:p>
          <a:p>
            <a:pPr algn="just">
              <a:lnSpc>
                <a:spcPct val="150000"/>
              </a:lnSpc>
              <a:spcBef>
                <a:spcPct val="0"/>
              </a:spcBef>
            </a:pPr>
            <a:endPar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gn="just">
              <a:lnSpc>
                <a:spcPct val="150000"/>
              </a:lnSpc>
              <a:spcBef>
                <a:spcPct val="0"/>
              </a:spcBef>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This project aims to develop a system that combines financial features, </a:t>
            </a:r>
            <a:r>
              <a:rPr lang="en-US" sz="36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Probability of default(PD)</a:t>
            </a: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 deliver reliable credit risk assessment and personalized improvement suggestions.</a:t>
            </a:r>
          </a:p>
        </p:txBody>
      </p:sp>
      <p:grpSp>
        <p:nvGrpSpPr>
          <p:cNvPr id="6" name="Group 6"/>
          <p:cNvGrpSpPr/>
          <p:nvPr/>
        </p:nvGrpSpPr>
        <p:grpSpPr>
          <a:xfrm>
            <a:off x="16077133" y="191729"/>
            <a:ext cx="2004384" cy="811159"/>
            <a:chOff x="0" y="0"/>
            <a:chExt cx="2672512" cy="1081545"/>
          </a:xfrm>
        </p:grpSpPr>
        <p:sp>
          <p:nvSpPr>
            <p:cNvPr id="7" name="Freeform 7"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108314"/>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sp>
        <p:nvSpPr>
          <p:cNvPr id="4" name="TextBox 4"/>
          <p:cNvSpPr txBox="1"/>
          <p:nvPr/>
        </p:nvSpPr>
        <p:spPr>
          <a:xfrm>
            <a:off x="6629400" y="1000125"/>
            <a:ext cx="3786759" cy="908903"/>
          </a:xfrm>
          <a:prstGeom prst="rect">
            <a:avLst/>
          </a:prstGeom>
        </p:spPr>
        <p:txBody>
          <a:bodyPr wrap="square"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Objectives</a:t>
            </a:r>
          </a:p>
        </p:txBody>
      </p:sp>
      <p:sp>
        <p:nvSpPr>
          <p:cNvPr id="5" name="TextBox 5"/>
          <p:cNvSpPr txBox="1"/>
          <p:nvPr/>
        </p:nvSpPr>
        <p:spPr>
          <a:xfrm>
            <a:off x="990601" y="2800839"/>
            <a:ext cx="16078200" cy="4209294"/>
          </a:xfrm>
          <a:prstGeom prst="rect">
            <a:avLst/>
          </a:prstGeom>
        </p:spPr>
        <p:txBody>
          <a:bodyPr wrap="square" lIns="0" tIns="0" rIns="0" bIns="0" rtlCol="0" anchor="t">
            <a:spAutoFit/>
          </a:bodyPr>
          <a:lstStyle/>
          <a:p>
            <a:pPr marL="919334" lvl="1" indent="-459667" algn="just">
              <a:lnSpc>
                <a:spcPct val="150000"/>
              </a:lnSpc>
              <a:spcAft>
                <a:spcPts val="1200"/>
              </a:spcAft>
              <a:buFont typeface="Arial"/>
              <a:buChar char="•"/>
            </a:pPr>
            <a:r>
              <a:rPr lang="en-US" sz="3600" dirty="0">
                <a:solidFill>
                  <a:srgbClr val="000000"/>
                </a:solidFill>
                <a:latin typeface="Times New Roman"/>
                <a:ea typeface="Times New Roman"/>
                <a:cs typeface="Times New Roman"/>
                <a:sym typeface="Times New Roman"/>
              </a:rPr>
              <a:t>To build a supervised machine learning system that uses diverse financial data to predict credit default, estimate each borrower’s probability of default, and evaluate performance using both accuracy-based and probability calibration metrics.</a:t>
            </a:r>
          </a:p>
          <a:p>
            <a:pPr marL="919334" lvl="1" indent="-459667" algn="just">
              <a:lnSpc>
                <a:spcPct val="150000"/>
              </a:lnSpc>
              <a:buFont typeface="Arial"/>
              <a:buChar char="•"/>
            </a:pPr>
            <a:r>
              <a:rPr lang="en-US" sz="3600" dirty="0">
                <a:solidFill>
                  <a:srgbClr val="000000"/>
                </a:solidFill>
                <a:latin typeface="Times New Roman"/>
                <a:ea typeface="Times New Roman"/>
                <a:cs typeface="Times New Roman"/>
                <a:sym typeface="Times New Roman"/>
              </a:rPr>
              <a:t>To design a risk scoring system that classifies borrowers into Low, Medium, and High credit risk categories based on predicted probability of default(PD).</a:t>
            </a:r>
          </a:p>
        </p:txBody>
      </p:sp>
      <p:grpSp>
        <p:nvGrpSpPr>
          <p:cNvPr id="6" name="Group 6"/>
          <p:cNvGrpSpPr/>
          <p:nvPr/>
        </p:nvGrpSpPr>
        <p:grpSpPr>
          <a:xfrm>
            <a:off x="16077133" y="191729"/>
            <a:ext cx="2004384" cy="811159"/>
            <a:chOff x="0" y="0"/>
            <a:chExt cx="2672512" cy="1081545"/>
          </a:xfrm>
        </p:grpSpPr>
        <p:sp>
          <p:nvSpPr>
            <p:cNvPr id="7" name="Freeform 7"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108314"/>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grpSp>
        <p:nvGrpSpPr>
          <p:cNvPr id="4" name="Group 4"/>
          <p:cNvGrpSpPr/>
          <p:nvPr/>
        </p:nvGrpSpPr>
        <p:grpSpPr>
          <a:xfrm>
            <a:off x="16077133" y="217541"/>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
        <p:nvSpPr>
          <p:cNvPr id="6" name="Freeform 6"/>
          <p:cNvSpPr/>
          <p:nvPr/>
        </p:nvSpPr>
        <p:spPr>
          <a:xfrm>
            <a:off x="9680055" y="4835552"/>
            <a:ext cx="7935325" cy="4404105"/>
          </a:xfrm>
          <a:custGeom>
            <a:avLst/>
            <a:gdLst/>
            <a:ahLst/>
            <a:cxnLst/>
            <a:rect l="l" t="t" r="r" b="b"/>
            <a:pathLst>
              <a:path w="7935325" h="4404105">
                <a:moveTo>
                  <a:pt x="0" y="0"/>
                </a:moveTo>
                <a:lnTo>
                  <a:pt x="7935325" y="0"/>
                </a:lnTo>
                <a:lnTo>
                  <a:pt x="7935325" y="4404106"/>
                </a:lnTo>
                <a:lnTo>
                  <a:pt x="0" y="4404106"/>
                </a:lnTo>
                <a:lnTo>
                  <a:pt x="0" y="0"/>
                </a:lnTo>
                <a:close/>
              </a:path>
            </a:pathLst>
          </a:custGeom>
          <a:blipFill>
            <a:blip r:embed="rId3"/>
            <a:stretch>
              <a:fillRect/>
            </a:stretch>
          </a:blipFill>
        </p:spPr>
        <p:txBody>
          <a:bodyPr/>
          <a:lstStyle/>
          <a:p>
            <a:endParaRPr lang="en-US" dirty="0"/>
          </a:p>
        </p:txBody>
      </p:sp>
      <p:sp>
        <p:nvSpPr>
          <p:cNvPr id="7" name="TextBox 7"/>
          <p:cNvSpPr txBox="1"/>
          <p:nvPr/>
        </p:nvSpPr>
        <p:spPr>
          <a:xfrm>
            <a:off x="5257800" y="1000125"/>
            <a:ext cx="7071800" cy="908903"/>
          </a:xfrm>
          <a:prstGeom prst="rect">
            <a:avLst/>
          </a:prstGeom>
        </p:spPr>
        <p:txBody>
          <a:bodyPr wrap="square"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Dataset description</a:t>
            </a:r>
          </a:p>
        </p:txBody>
      </p:sp>
      <p:sp>
        <p:nvSpPr>
          <p:cNvPr id="8" name="TextBox 8"/>
          <p:cNvSpPr txBox="1"/>
          <p:nvPr/>
        </p:nvSpPr>
        <p:spPr>
          <a:xfrm>
            <a:off x="879498" y="4835552"/>
            <a:ext cx="8569302" cy="4498539"/>
          </a:xfrm>
          <a:prstGeom prst="rect">
            <a:avLst/>
          </a:prstGeom>
        </p:spPr>
        <p:txBody>
          <a:bodyPr wrap="square" lIns="0" tIns="0" rIns="0" bIns="0" rtlCol="0" anchor="t">
            <a:spAutoFit/>
          </a:bodyPr>
          <a:lstStyle/>
          <a:p>
            <a:pPr algn="l">
              <a:lnSpc>
                <a:spcPct val="150000"/>
              </a:lnSpc>
              <a:spcBef>
                <a:spcPct val="0"/>
              </a:spcBef>
            </a:pPr>
            <a:r>
              <a:rPr lang="en-US" sz="3200" dirty="0">
                <a:solidFill>
                  <a:srgbClr val="000000"/>
                </a:solidFill>
                <a:latin typeface="Times New Roman"/>
                <a:ea typeface="Times New Roman"/>
                <a:cs typeface="Times New Roman"/>
                <a:sym typeface="Times New Roman"/>
              </a:rPr>
              <a:t>It includes features such as age, annual income, home ownership status, employment length, loan purpose, loan grade, loan amount, interest rate, loan status (default or non-default), loan-to-income ratio, historical credit bureau default information, and length of credit history. </a:t>
            </a:r>
          </a:p>
        </p:txBody>
      </p:sp>
      <p:sp>
        <p:nvSpPr>
          <p:cNvPr id="10" name="TextBox 9">
            <a:extLst>
              <a:ext uri="{FF2B5EF4-FFF2-40B4-BE49-F238E27FC236}">
                <a16:creationId xmlns:a16="http://schemas.microsoft.com/office/drawing/2014/main" id="{2302794D-F8F9-EBE9-7029-B57F23D10B5D}"/>
              </a:ext>
            </a:extLst>
          </p:cNvPr>
          <p:cNvSpPr txBox="1"/>
          <p:nvPr/>
        </p:nvSpPr>
        <p:spPr>
          <a:xfrm>
            <a:off x="838200" y="2314062"/>
            <a:ext cx="16702041" cy="2219838"/>
          </a:xfrm>
          <a:prstGeom prst="rect">
            <a:avLst/>
          </a:prstGeom>
          <a:noFill/>
        </p:spPr>
        <p:txBody>
          <a:bodyPr wrap="square">
            <a:spAutoFit/>
          </a:bodyPr>
          <a:lstStyle/>
          <a:p>
            <a:pPr algn="just">
              <a:lnSpc>
                <a:spcPct val="150000"/>
              </a:lnSpc>
              <a:spcBef>
                <a:spcPct val="0"/>
              </a:spcBef>
            </a:pPr>
            <a:r>
              <a:rPr lang="en-US" sz="3200" dirty="0">
                <a:solidFill>
                  <a:srgbClr val="000000"/>
                </a:solidFill>
                <a:latin typeface="Times New Roman"/>
                <a:ea typeface="Times New Roman"/>
                <a:cs typeface="Times New Roman"/>
                <a:sym typeface="Times New Roman"/>
              </a:rPr>
              <a:t>The dataset consists of 32,825 records with 12 attributes, representing borrower demographic, financial, and credit history information. The dataset is used for supervised credit default prediction and probability of default estimation.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108314"/>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grpSp>
        <p:nvGrpSpPr>
          <p:cNvPr id="4" name="Group 4"/>
          <p:cNvGrpSpPr/>
          <p:nvPr/>
        </p:nvGrpSpPr>
        <p:grpSpPr>
          <a:xfrm>
            <a:off x="16077133" y="217541"/>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
        <p:nvSpPr>
          <p:cNvPr id="7" name="TextBox 7"/>
          <p:cNvSpPr txBox="1"/>
          <p:nvPr/>
        </p:nvSpPr>
        <p:spPr>
          <a:xfrm>
            <a:off x="6629400" y="1000125"/>
            <a:ext cx="4539557" cy="908903"/>
          </a:xfrm>
          <a:prstGeom prst="rect">
            <a:avLst/>
          </a:prstGeom>
        </p:spPr>
        <p:txBody>
          <a:bodyPr wrap="square"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Methodology</a:t>
            </a:r>
          </a:p>
        </p:txBody>
      </p:sp>
      <p:sp>
        <p:nvSpPr>
          <p:cNvPr id="8" name="TextBox 8"/>
          <p:cNvSpPr txBox="1"/>
          <p:nvPr/>
        </p:nvSpPr>
        <p:spPr>
          <a:xfrm>
            <a:off x="1056407" y="2340875"/>
            <a:ext cx="7554193" cy="6492355"/>
          </a:xfrm>
          <a:prstGeom prst="rect">
            <a:avLst/>
          </a:prstGeom>
        </p:spPr>
        <p:txBody>
          <a:bodyPr wrap="square" lIns="0" tIns="0" rIns="0" bIns="0" rtlCol="0" anchor="t">
            <a:spAutoFit/>
          </a:bodyPr>
          <a:lstStyle/>
          <a:p>
            <a:pPr marL="770761" lvl="1" indent="-385381" algn="l">
              <a:lnSpc>
                <a:spcPct val="150000"/>
              </a:lnSpc>
              <a:buFont typeface="Arial"/>
              <a:buChar char="•"/>
            </a:pPr>
            <a:r>
              <a:rPr lang="en-US" sz="3569" dirty="0">
                <a:solidFill>
                  <a:srgbClr val="000000"/>
                </a:solidFill>
                <a:latin typeface="Times New Roman"/>
                <a:ea typeface="Times New Roman"/>
                <a:cs typeface="Times New Roman"/>
                <a:sym typeface="Times New Roman"/>
              </a:rPr>
              <a:t>Develop a machine learning–based system to estimate the Probability of Default (PD) for loan applicants.</a:t>
            </a:r>
          </a:p>
          <a:p>
            <a:pPr marL="770761" lvl="1" indent="-385381" algn="l">
              <a:lnSpc>
                <a:spcPct val="150000"/>
              </a:lnSpc>
              <a:buFont typeface="Arial"/>
              <a:buChar char="•"/>
            </a:pPr>
            <a:r>
              <a:rPr lang="en-US" sz="3569" dirty="0">
                <a:solidFill>
                  <a:srgbClr val="000000"/>
                </a:solidFill>
                <a:latin typeface="Times New Roman"/>
                <a:ea typeface="Times New Roman"/>
                <a:cs typeface="Times New Roman"/>
                <a:sym typeface="Times New Roman"/>
              </a:rPr>
              <a:t>Use PD estimates to support credit approval decisions and portfolio risk monitoring.</a:t>
            </a:r>
          </a:p>
          <a:p>
            <a:pPr marL="770761" lvl="1" indent="-385381" algn="l">
              <a:lnSpc>
                <a:spcPct val="150000"/>
              </a:lnSpc>
              <a:buFont typeface="Arial"/>
              <a:buChar char="•"/>
            </a:pPr>
            <a:r>
              <a:rPr lang="en-US" sz="3569" dirty="0">
                <a:solidFill>
                  <a:srgbClr val="000000"/>
                </a:solidFill>
                <a:latin typeface="Times New Roman"/>
                <a:ea typeface="Times New Roman"/>
                <a:cs typeface="Times New Roman"/>
                <a:sym typeface="Times New Roman"/>
              </a:rPr>
              <a:t>Ensure regulatory awareness, model transparency, and data privacy.</a:t>
            </a:r>
          </a:p>
        </p:txBody>
      </p:sp>
      <p:sp>
        <p:nvSpPr>
          <p:cNvPr id="9" name="Freeform 7">
            <a:extLst>
              <a:ext uri="{FF2B5EF4-FFF2-40B4-BE49-F238E27FC236}">
                <a16:creationId xmlns:a16="http://schemas.microsoft.com/office/drawing/2014/main" id="{B3214838-C772-D7D9-AC33-0EA78EAD8E54}"/>
              </a:ext>
            </a:extLst>
          </p:cNvPr>
          <p:cNvSpPr/>
          <p:nvPr/>
        </p:nvSpPr>
        <p:spPr>
          <a:xfrm>
            <a:off x="11168957" y="2095500"/>
            <a:ext cx="4833043" cy="7619999"/>
          </a:xfrm>
          <a:custGeom>
            <a:avLst/>
            <a:gdLst/>
            <a:ahLst/>
            <a:cxnLst/>
            <a:rect l="l" t="t" r="r" b="b"/>
            <a:pathLst>
              <a:path w="2246954" h="6032092">
                <a:moveTo>
                  <a:pt x="0" y="0"/>
                </a:moveTo>
                <a:lnTo>
                  <a:pt x="2246954" y="0"/>
                </a:lnTo>
                <a:lnTo>
                  <a:pt x="2246954" y="6032092"/>
                </a:lnTo>
                <a:lnTo>
                  <a:pt x="0" y="6032092"/>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108313"/>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sp>
        <p:nvSpPr>
          <p:cNvPr id="4" name="TextBox 4"/>
          <p:cNvSpPr txBox="1"/>
          <p:nvPr/>
        </p:nvSpPr>
        <p:spPr>
          <a:xfrm>
            <a:off x="6322225" y="774091"/>
            <a:ext cx="5643510" cy="908903"/>
          </a:xfrm>
          <a:prstGeom prst="rect">
            <a:avLst/>
          </a:prstGeom>
        </p:spPr>
        <p:txBody>
          <a:bodyPr wrap="square"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SWOT Analysis</a:t>
            </a:r>
          </a:p>
        </p:txBody>
      </p:sp>
      <p:grpSp>
        <p:nvGrpSpPr>
          <p:cNvPr id="5" name="Group 5"/>
          <p:cNvGrpSpPr/>
          <p:nvPr/>
        </p:nvGrpSpPr>
        <p:grpSpPr>
          <a:xfrm>
            <a:off x="16077133" y="217541"/>
            <a:ext cx="2004384" cy="811159"/>
            <a:chOff x="0" y="0"/>
            <a:chExt cx="2672512" cy="1081545"/>
          </a:xfrm>
        </p:grpSpPr>
        <p:sp>
          <p:nvSpPr>
            <p:cNvPr id="6" name="Freeform 6"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
        <p:nvSpPr>
          <p:cNvPr id="7" name="TextBox 7"/>
          <p:cNvSpPr txBox="1"/>
          <p:nvPr/>
        </p:nvSpPr>
        <p:spPr>
          <a:xfrm>
            <a:off x="3245783" y="2195324"/>
            <a:ext cx="1840282" cy="525088"/>
          </a:xfrm>
          <a:prstGeom prst="rect">
            <a:avLst/>
          </a:prstGeom>
        </p:spPr>
        <p:txBody>
          <a:bodyPr lIns="0" tIns="0" rIns="0" bIns="0" rtlCol="0" anchor="t">
            <a:spAutoFit/>
          </a:bodyPr>
          <a:lstStyle/>
          <a:p>
            <a:pPr marL="0" lvl="0" indent="0" algn="l">
              <a:lnSpc>
                <a:spcPts val="3970"/>
              </a:lnSpc>
            </a:pPr>
            <a:r>
              <a:rPr lang="en-US" sz="3336" b="1" dirty="0">
                <a:solidFill>
                  <a:srgbClr val="000000"/>
                </a:solidFill>
                <a:latin typeface="Times New Roman Bold"/>
                <a:ea typeface="Times New Roman Bold"/>
                <a:cs typeface="Times New Roman Bold"/>
                <a:sym typeface="Times New Roman Bold"/>
              </a:rPr>
              <a:t>Strengths</a:t>
            </a:r>
          </a:p>
        </p:txBody>
      </p:sp>
      <p:sp>
        <p:nvSpPr>
          <p:cNvPr id="8" name="TextBox 8"/>
          <p:cNvSpPr txBox="1"/>
          <p:nvPr/>
        </p:nvSpPr>
        <p:spPr>
          <a:xfrm>
            <a:off x="12148886" y="2103812"/>
            <a:ext cx="2543961" cy="525088"/>
          </a:xfrm>
          <a:prstGeom prst="rect">
            <a:avLst/>
          </a:prstGeom>
        </p:spPr>
        <p:txBody>
          <a:bodyPr lIns="0" tIns="0" rIns="0" bIns="0" rtlCol="0" anchor="t">
            <a:spAutoFit/>
          </a:bodyPr>
          <a:lstStyle/>
          <a:p>
            <a:pPr marL="0" lvl="0" indent="0" algn="just">
              <a:lnSpc>
                <a:spcPts val="3970"/>
              </a:lnSpc>
            </a:pPr>
            <a:r>
              <a:rPr lang="en-US" sz="3336" b="1" dirty="0">
                <a:solidFill>
                  <a:srgbClr val="000000"/>
                </a:solidFill>
                <a:latin typeface="Times New Roman Bold"/>
                <a:ea typeface="Times New Roman Bold"/>
                <a:cs typeface="Times New Roman Bold"/>
                <a:sym typeface="Times New Roman Bold"/>
              </a:rPr>
              <a:t>Opportunities</a:t>
            </a:r>
          </a:p>
        </p:txBody>
      </p:sp>
      <p:sp>
        <p:nvSpPr>
          <p:cNvPr id="9" name="TextBox 9"/>
          <p:cNvSpPr txBox="1"/>
          <p:nvPr/>
        </p:nvSpPr>
        <p:spPr>
          <a:xfrm>
            <a:off x="3048000" y="5664055"/>
            <a:ext cx="2291960" cy="525088"/>
          </a:xfrm>
          <a:prstGeom prst="rect">
            <a:avLst/>
          </a:prstGeom>
        </p:spPr>
        <p:txBody>
          <a:bodyPr lIns="0" tIns="0" rIns="0" bIns="0" rtlCol="0" anchor="t">
            <a:spAutoFit/>
          </a:bodyPr>
          <a:lstStyle/>
          <a:p>
            <a:pPr marL="0" lvl="0" indent="0" algn="l">
              <a:lnSpc>
                <a:spcPts val="3970"/>
              </a:lnSpc>
            </a:pPr>
            <a:r>
              <a:rPr lang="en-US" sz="3336" b="1" dirty="0">
                <a:solidFill>
                  <a:srgbClr val="000000"/>
                </a:solidFill>
                <a:latin typeface="Times New Roman Bold"/>
                <a:ea typeface="Times New Roman Bold"/>
                <a:cs typeface="Times New Roman Bold"/>
                <a:sym typeface="Times New Roman Bold"/>
              </a:rPr>
              <a:t>Weaknesses</a:t>
            </a:r>
          </a:p>
        </p:txBody>
      </p:sp>
      <p:sp>
        <p:nvSpPr>
          <p:cNvPr id="10" name="TextBox 10"/>
          <p:cNvSpPr txBox="1"/>
          <p:nvPr/>
        </p:nvSpPr>
        <p:spPr>
          <a:xfrm>
            <a:off x="12454191" y="5751032"/>
            <a:ext cx="1933350" cy="525088"/>
          </a:xfrm>
          <a:prstGeom prst="rect">
            <a:avLst/>
          </a:prstGeom>
        </p:spPr>
        <p:txBody>
          <a:bodyPr lIns="0" tIns="0" rIns="0" bIns="0" rtlCol="0" anchor="t">
            <a:spAutoFit/>
          </a:bodyPr>
          <a:lstStyle/>
          <a:p>
            <a:pPr marL="0" lvl="0" indent="0" algn="just">
              <a:lnSpc>
                <a:spcPts val="3970"/>
              </a:lnSpc>
            </a:pPr>
            <a:r>
              <a:rPr lang="en-US" sz="3336" b="1" dirty="0">
                <a:solidFill>
                  <a:srgbClr val="000000"/>
                </a:solidFill>
                <a:latin typeface="Times New Roman Bold"/>
                <a:ea typeface="Times New Roman Bold"/>
                <a:cs typeface="Times New Roman Bold"/>
                <a:sym typeface="Times New Roman Bold"/>
              </a:rPr>
              <a:t>Threats</a:t>
            </a:r>
          </a:p>
        </p:txBody>
      </p:sp>
      <p:sp>
        <p:nvSpPr>
          <p:cNvPr id="11" name="TextBox 11"/>
          <p:cNvSpPr txBox="1"/>
          <p:nvPr/>
        </p:nvSpPr>
        <p:spPr>
          <a:xfrm>
            <a:off x="818865" y="2606919"/>
            <a:ext cx="8534400" cy="1994520"/>
          </a:xfrm>
          <a:prstGeom prst="rect">
            <a:avLst/>
          </a:prstGeom>
        </p:spPr>
        <p:txBody>
          <a:bodyPr wrap="square" lIns="0" tIns="0" rIns="0" bIns="0" rtlCol="0" anchor="t">
            <a:spAutoFit/>
          </a:bodyPr>
          <a:lstStyle/>
          <a:p>
            <a:pPr marL="577445" lvl="1" indent="-288723" algn="l">
              <a:lnSpc>
                <a:spcPct val="150000"/>
              </a:lnSpc>
              <a:buFont typeface="Arial"/>
              <a:buChar char="•"/>
            </a:pPr>
            <a:r>
              <a:rPr lang="en-US" sz="3000" dirty="0">
                <a:solidFill>
                  <a:srgbClr val="737373"/>
                </a:solidFill>
                <a:latin typeface="Times New Roman"/>
                <a:ea typeface="Times New Roman"/>
                <a:cs typeface="Times New Roman"/>
                <a:sym typeface="Times New Roman"/>
              </a:rPr>
              <a:t>Improves accuracy over traditional credit scoring</a:t>
            </a:r>
          </a:p>
          <a:p>
            <a:pPr marL="577445" lvl="1" indent="-288723" algn="l">
              <a:lnSpc>
                <a:spcPct val="150000"/>
              </a:lnSpc>
              <a:buFont typeface="Arial"/>
              <a:buChar char="•"/>
            </a:pPr>
            <a:r>
              <a:rPr lang="en-US" sz="3000" dirty="0">
                <a:solidFill>
                  <a:srgbClr val="737373"/>
                </a:solidFill>
                <a:latin typeface="Times New Roman"/>
                <a:ea typeface="Times New Roman"/>
                <a:cs typeface="Times New Roman"/>
                <a:sym typeface="Times New Roman"/>
              </a:rPr>
              <a:t>Supports risk-based decision making with calibrated probability</a:t>
            </a:r>
          </a:p>
        </p:txBody>
      </p:sp>
      <p:sp>
        <p:nvSpPr>
          <p:cNvPr id="12" name="TextBox 12"/>
          <p:cNvSpPr txBox="1"/>
          <p:nvPr/>
        </p:nvSpPr>
        <p:spPr>
          <a:xfrm>
            <a:off x="9372600" y="2628900"/>
            <a:ext cx="8096535" cy="2687018"/>
          </a:xfrm>
          <a:prstGeom prst="rect">
            <a:avLst/>
          </a:prstGeom>
        </p:spPr>
        <p:txBody>
          <a:bodyPr wrap="square" lIns="0" tIns="0" rIns="0" bIns="0" rtlCol="0" anchor="t">
            <a:spAutoFit/>
          </a:bodyPr>
          <a:lstStyle/>
          <a:p>
            <a:pPr marL="568701" lvl="1" indent="-284351" algn="l">
              <a:lnSpc>
                <a:spcPct val="150000"/>
              </a:lnSpc>
              <a:buFont typeface="Arial"/>
              <a:buChar char="•"/>
            </a:pPr>
            <a:r>
              <a:rPr lang="en-US" sz="3000" dirty="0">
                <a:solidFill>
                  <a:srgbClr val="737373"/>
                </a:solidFill>
                <a:latin typeface="Times New Roman"/>
                <a:ea typeface="Times New Roman"/>
                <a:cs typeface="Times New Roman"/>
                <a:sym typeface="Times New Roman"/>
              </a:rPr>
              <a:t>Supports banks and fintech with automated, real-time credit risk monitoring while helping consumers understand improvement areas and increase their chances of loan approval</a:t>
            </a:r>
          </a:p>
        </p:txBody>
      </p:sp>
      <p:sp>
        <p:nvSpPr>
          <p:cNvPr id="13" name="TextBox 13"/>
          <p:cNvSpPr txBox="1"/>
          <p:nvPr/>
        </p:nvSpPr>
        <p:spPr>
          <a:xfrm>
            <a:off x="838200" y="6304404"/>
            <a:ext cx="8534400" cy="2763962"/>
          </a:xfrm>
          <a:prstGeom prst="rect">
            <a:avLst/>
          </a:prstGeom>
        </p:spPr>
        <p:txBody>
          <a:bodyPr wrap="square" lIns="0" tIns="0" rIns="0" bIns="0" rtlCol="0" anchor="t">
            <a:spAutoFit/>
          </a:bodyPr>
          <a:lstStyle/>
          <a:p>
            <a:pPr marL="576291" lvl="1" indent="-288145" algn="l">
              <a:lnSpc>
                <a:spcPct val="150000"/>
              </a:lnSpc>
              <a:spcAft>
                <a:spcPts val="600"/>
              </a:spcAft>
              <a:buFont typeface="Arial"/>
              <a:buChar char="•"/>
            </a:pPr>
            <a:r>
              <a:rPr lang="en-US" sz="3000" dirty="0">
                <a:solidFill>
                  <a:srgbClr val="737373"/>
                </a:solidFill>
                <a:latin typeface="Times New Roman"/>
                <a:ea typeface="Times New Roman"/>
                <a:cs typeface="Times New Roman"/>
                <a:sym typeface="Times New Roman"/>
              </a:rPr>
              <a:t> Model performance may degrade over time due to data drift and changing borrower behavior</a:t>
            </a:r>
          </a:p>
          <a:p>
            <a:pPr marL="576291" lvl="1" indent="-288145" algn="l">
              <a:lnSpc>
                <a:spcPct val="150000"/>
              </a:lnSpc>
              <a:spcAft>
                <a:spcPts val="600"/>
              </a:spcAft>
              <a:buFont typeface="Arial"/>
              <a:buChar char="•"/>
            </a:pPr>
            <a:r>
              <a:rPr lang="en-US" sz="3000" dirty="0">
                <a:solidFill>
                  <a:srgbClr val="737373"/>
                </a:solidFill>
                <a:latin typeface="Times New Roman"/>
                <a:ea typeface="Times New Roman"/>
                <a:cs typeface="Times New Roman"/>
                <a:sym typeface="Times New Roman"/>
              </a:rPr>
              <a:t>Real-time data availability is limited due to privacy and data-sharing restrictions</a:t>
            </a:r>
          </a:p>
        </p:txBody>
      </p:sp>
      <p:sp>
        <p:nvSpPr>
          <p:cNvPr id="14" name="TextBox 14"/>
          <p:cNvSpPr txBox="1"/>
          <p:nvPr/>
        </p:nvSpPr>
        <p:spPr>
          <a:xfrm>
            <a:off x="9601200" y="6304404"/>
            <a:ext cx="8096535" cy="1994520"/>
          </a:xfrm>
          <a:prstGeom prst="rect">
            <a:avLst/>
          </a:prstGeom>
        </p:spPr>
        <p:txBody>
          <a:bodyPr wrap="square" lIns="0" tIns="0" rIns="0" bIns="0" rtlCol="0" anchor="t">
            <a:spAutoFit/>
          </a:bodyPr>
          <a:lstStyle/>
          <a:p>
            <a:pPr marL="568701" lvl="1" indent="-284351" algn="l">
              <a:lnSpc>
                <a:spcPct val="150000"/>
              </a:lnSpc>
              <a:buFont typeface="Arial"/>
              <a:buChar char="•"/>
            </a:pPr>
            <a:r>
              <a:rPr lang="en-US" sz="3000" dirty="0">
                <a:solidFill>
                  <a:srgbClr val="737373"/>
                </a:solidFill>
                <a:latin typeface="Times New Roman"/>
                <a:ea typeface="Times New Roman"/>
                <a:cs typeface="Times New Roman"/>
                <a:sym typeface="Times New Roman"/>
              </a:rPr>
              <a:t>Data privacy concerns and bias in historical data</a:t>
            </a:r>
          </a:p>
          <a:p>
            <a:pPr marL="568701" lvl="1" indent="-284351" algn="l">
              <a:lnSpc>
                <a:spcPct val="150000"/>
              </a:lnSpc>
              <a:buFont typeface="Arial"/>
              <a:buChar char="•"/>
            </a:pPr>
            <a:r>
              <a:rPr lang="en-US" sz="3000" dirty="0">
                <a:solidFill>
                  <a:srgbClr val="737373"/>
                </a:solidFill>
                <a:latin typeface="Times New Roman"/>
                <a:ea typeface="Times New Roman"/>
                <a:cs typeface="Times New Roman"/>
                <a:sym typeface="Times New Roman"/>
              </a:rPr>
              <a:t>Regulatory changes and economic shifts may reduce model reliability over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5586A6E-EB2A-8391-49F3-B78525B1AC0D}"/>
              </a:ext>
            </a:extLst>
          </p:cNvPr>
          <p:cNvGrpSpPr/>
          <p:nvPr/>
        </p:nvGrpSpPr>
        <p:grpSpPr>
          <a:xfrm>
            <a:off x="123758" y="108314"/>
            <a:ext cx="18040483" cy="10070373"/>
            <a:chOff x="0" y="0"/>
            <a:chExt cx="24053978" cy="13427164"/>
          </a:xfrm>
        </p:grpSpPr>
        <p:sp>
          <p:nvSpPr>
            <p:cNvPr id="3" name="Freeform 3">
              <a:extLst>
                <a:ext uri="{FF2B5EF4-FFF2-40B4-BE49-F238E27FC236}">
                  <a16:creationId xmlns:a16="http://schemas.microsoft.com/office/drawing/2014/main" id="{6603BBF7-1313-C9E7-4D6A-D1125028FCDC}"/>
                </a:ext>
              </a:extLst>
            </p:cNvPr>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sp>
        <p:nvSpPr>
          <p:cNvPr id="4" name="TextBox 4">
            <a:extLst>
              <a:ext uri="{FF2B5EF4-FFF2-40B4-BE49-F238E27FC236}">
                <a16:creationId xmlns:a16="http://schemas.microsoft.com/office/drawing/2014/main" id="{752B5F3A-BD96-098A-F098-DBD6EA91D999}"/>
              </a:ext>
            </a:extLst>
          </p:cNvPr>
          <p:cNvSpPr txBox="1"/>
          <p:nvPr/>
        </p:nvSpPr>
        <p:spPr>
          <a:xfrm>
            <a:off x="5588275" y="1103248"/>
            <a:ext cx="7111410" cy="908903"/>
          </a:xfrm>
          <a:prstGeom prst="rect">
            <a:avLst/>
          </a:prstGeom>
        </p:spPr>
        <p:txBody>
          <a:bodyPr wrap="square"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PERT chart</a:t>
            </a:r>
          </a:p>
        </p:txBody>
      </p:sp>
      <p:grpSp>
        <p:nvGrpSpPr>
          <p:cNvPr id="6" name="Group 6">
            <a:extLst>
              <a:ext uri="{FF2B5EF4-FFF2-40B4-BE49-F238E27FC236}">
                <a16:creationId xmlns:a16="http://schemas.microsoft.com/office/drawing/2014/main" id="{AC1C91D7-6578-1B48-895F-5727EC52FBD6}"/>
              </a:ext>
            </a:extLst>
          </p:cNvPr>
          <p:cNvGrpSpPr/>
          <p:nvPr/>
        </p:nvGrpSpPr>
        <p:grpSpPr>
          <a:xfrm>
            <a:off x="16077133" y="217541"/>
            <a:ext cx="2004384" cy="811159"/>
            <a:chOff x="0" y="0"/>
            <a:chExt cx="2672512" cy="1081545"/>
          </a:xfrm>
        </p:grpSpPr>
        <p:sp>
          <p:nvSpPr>
            <p:cNvPr id="7" name="Freeform 7" descr="A picture containing text, clipart  Description automatically generated">
              <a:extLst>
                <a:ext uri="{FF2B5EF4-FFF2-40B4-BE49-F238E27FC236}">
                  <a16:creationId xmlns:a16="http://schemas.microsoft.com/office/drawing/2014/main" id="{5F6DAF60-1B99-011F-4B3B-DBEC48DF70E6}"/>
                </a:ext>
              </a:extLst>
            </p:cNvPr>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graphicFrame>
        <p:nvGraphicFramePr>
          <p:cNvPr id="10" name="Table 9">
            <a:extLst>
              <a:ext uri="{FF2B5EF4-FFF2-40B4-BE49-F238E27FC236}">
                <a16:creationId xmlns:a16="http://schemas.microsoft.com/office/drawing/2014/main" id="{398E691F-1DA1-0DDD-871A-28432781EE2C}"/>
              </a:ext>
            </a:extLst>
          </p:cNvPr>
          <p:cNvGraphicFramePr>
            <a:graphicFrameLocks noGrp="1"/>
          </p:cNvGraphicFramePr>
          <p:nvPr>
            <p:extLst>
              <p:ext uri="{D42A27DB-BD31-4B8C-83A1-F6EECF244321}">
                <p14:modId xmlns:p14="http://schemas.microsoft.com/office/powerpoint/2010/main" val="3433915161"/>
              </p:ext>
            </p:extLst>
          </p:nvPr>
        </p:nvGraphicFramePr>
        <p:xfrm>
          <a:off x="2667000" y="2476500"/>
          <a:ext cx="13182600" cy="6700080"/>
        </p:xfrm>
        <a:graphic>
          <a:graphicData uri="http://schemas.openxmlformats.org/drawingml/2006/table">
            <a:tbl>
              <a:tblPr/>
              <a:tblGrid>
                <a:gridCol w="4394200">
                  <a:extLst>
                    <a:ext uri="{9D8B030D-6E8A-4147-A177-3AD203B41FA5}">
                      <a16:colId xmlns:a16="http://schemas.microsoft.com/office/drawing/2014/main" val="2829024411"/>
                    </a:ext>
                  </a:extLst>
                </a:gridCol>
                <a:gridCol w="4394200">
                  <a:extLst>
                    <a:ext uri="{9D8B030D-6E8A-4147-A177-3AD203B41FA5}">
                      <a16:colId xmlns:a16="http://schemas.microsoft.com/office/drawing/2014/main" val="933229312"/>
                    </a:ext>
                  </a:extLst>
                </a:gridCol>
                <a:gridCol w="4394200">
                  <a:extLst>
                    <a:ext uri="{9D8B030D-6E8A-4147-A177-3AD203B41FA5}">
                      <a16:colId xmlns:a16="http://schemas.microsoft.com/office/drawing/2014/main" val="328685223"/>
                    </a:ext>
                  </a:extLst>
                </a:gridCol>
              </a:tblGrid>
              <a:tr h="352097">
                <a:tc>
                  <a:txBody>
                    <a:bodyPr/>
                    <a:lstStyle/>
                    <a:p>
                      <a:pPr>
                        <a:buNone/>
                      </a:pPr>
                      <a:r>
                        <a:rPr lang="en-IN" sz="2000" b="1" dirty="0">
                          <a:latin typeface="Times New Roman" panose="02020603050405020304" pitchFamily="18" charset="0"/>
                          <a:cs typeface="Times New Roman" panose="02020603050405020304" pitchFamily="18" charset="0"/>
                        </a:rPr>
                        <a:t>Activity</a:t>
                      </a:r>
                    </a:p>
                  </a:txBody>
                  <a:tcPr marL="60346" marR="60346" marT="30173" marB="30173"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Task Description</a:t>
                      </a:r>
                    </a:p>
                  </a:txBody>
                  <a:tcPr marL="60346" marR="60346" marT="30173" marB="30173"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Estimated Duration</a:t>
                      </a:r>
                    </a:p>
                  </a:txBody>
                  <a:tcPr marL="60346" marR="60346" marT="30173" marB="30173" anchor="ctr">
                    <a:lnL>
                      <a:noFill/>
                    </a:lnL>
                    <a:lnR>
                      <a:noFill/>
                    </a:lnR>
                    <a:lnT>
                      <a:noFill/>
                    </a:lnT>
                    <a:lnB>
                      <a:noFill/>
                    </a:lnB>
                    <a:noFill/>
                  </a:tcPr>
                </a:tc>
                <a:extLst>
                  <a:ext uri="{0D108BD9-81ED-4DB2-BD59-A6C34878D82A}">
                    <a16:rowId xmlns:a16="http://schemas.microsoft.com/office/drawing/2014/main" val="1548237405"/>
                  </a:ext>
                </a:extLst>
              </a:tr>
              <a:tr h="616837">
                <a:tc>
                  <a:txBody>
                    <a:bodyPr/>
                    <a:lstStyle/>
                    <a:p>
                      <a:pPr>
                        <a:buNone/>
                      </a:pPr>
                      <a:r>
                        <a:rPr lang="en-IN" sz="2000" b="1">
                          <a:latin typeface="Times New Roman" panose="02020603050405020304" pitchFamily="18" charset="0"/>
                          <a:cs typeface="Times New Roman" panose="02020603050405020304" pitchFamily="18" charset="0"/>
                        </a:rPr>
                        <a:t>A</a:t>
                      </a:r>
                      <a:endParaRPr lang="en-IN" sz="2000">
                        <a:latin typeface="Times New Roman" panose="02020603050405020304" pitchFamily="18" charset="0"/>
                        <a:cs typeface="Times New Roman" panose="02020603050405020304" pitchFamily="18" charset="0"/>
                      </a:endParaRP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Problem Definition &amp; Literature Review</a:t>
                      </a: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 week</a:t>
                      </a:r>
                    </a:p>
                  </a:txBody>
                  <a:tcPr marL="60346" marR="60346" marT="30173" marB="30173" anchor="ctr">
                    <a:lnL>
                      <a:noFill/>
                    </a:lnL>
                    <a:lnR>
                      <a:noFill/>
                    </a:lnR>
                    <a:lnT>
                      <a:noFill/>
                    </a:lnT>
                    <a:lnB>
                      <a:noFill/>
                    </a:lnB>
                    <a:noFill/>
                  </a:tcPr>
                </a:tc>
                <a:extLst>
                  <a:ext uri="{0D108BD9-81ED-4DB2-BD59-A6C34878D82A}">
                    <a16:rowId xmlns:a16="http://schemas.microsoft.com/office/drawing/2014/main" val="904131238"/>
                  </a:ext>
                </a:extLst>
              </a:tr>
              <a:tr h="616837">
                <a:tc>
                  <a:txBody>
                    <a:bodyPr/>
                    <a:lstStyle/>
                    <a:p>
                      <a:pPr>
                        <a:buNone/>
                      </a:pPr>
                      <a:r>
                        <a:rPr lang="en-IN" sz="2000" b="1">
                          <a:latin typeface="Times New Roman" panose="02020603050405020304" pitchFamily="18" charset="0"/>
                          <a:cs typeface="Times New Roman" panose="02020603050405020304" pitchFamily="18" charset="0"/>
                        </a:rPr>
                        <a:t>B</a:t>
                      </a:r>
                      <a:endParaRPr lang="en-IN" sz="2000">
                        <a:latin typeface="Times New Roman" panose="02020603050405020304" pitchFamily="18" charset="0"/>
                        <a:cs typeface="Times New Roman" panose="02020603050405020304" pitchFamily="18" charset="0"/>
                      </a:endParaRP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Dataset Collection &amp; Understanding</a:t>
                      </a: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 week</a:t>
                      </a:r>
                    </a:p>
                  </a:txBody>
                  <a:tcPr marL="60346" marR="60346" marT="30173" marB="30173" anchor="ctr">
                    <a:lnL>
                      <a:noFill/>
                    </a:lnL>
                    <a:lnR>
                      <a:noFill/>
                    </a:lnR>
                    <a:lnT>
                      <a:noFill/>
                    </a:lnT>
                    <a:lnB>
                      <a:noFill/>
                    </a:lnB>
                    <a:noFill/>
                  </a:tcPr>
                </a:tc>
                <a:extLst>
                  <a:ext uri="{0D108BD9-81ED-4DB2-BD59-A6C34878D82A}">
                    <a16:rowId xmlns:a16="http://schemas.microsoft.com/office/drawing/2014/main" val="1311047275"/>
                  </a:ext>
                </a:extLst>
              </a:tr>
              <a:tr h="616837">
                <a:tc>
                  <a:txBody>
                    <a:bodyPr/>
                    <a:lstStyle/>
                    <a:p>
                      <a:pPr>
                        <a:buNone/>
                      </a:pPr>
                      <a:r>
                        <a:rPr lang="en-IN" sz="2000" b="1">
                          <a:latin typeface="Times New Roman" panose="02020603050405020304" pitchFamily="18" charset="0"/>
                          <a:cs typeface="Times New Roman" panose="02020603050405020304" pitchFamily="18" charset="0"/>
                        </a:rPr>
                        <a:t>C</a:t>
                      </a:r>
                      <a:endParaRPr lang="en-IN" sz="2000">
                        <a:latin typeface="Times New Roman" panose="02020603050405020304" pitchFamily="18" charset="0"/>
                        <a:cs typeface="Times New Roman" panose="02020603050405020304" pitchFamily="18" charset="0"/>
                      </a:endParaRP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Data Cleaning &amp; Preprocessing</a:t>
                      </a: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1–2 weeks</a:t>
                      </a:r>
                    </a:p>
                  </a:txBody>
                  <a:tcPr marL="60346" marR="60346" marT="30173" marB="30173" anchor="ctr">
                    <a:lnL>
                      <a:noFill/>
                    </a:lnL>
                    <a:lnR>
                      <a:noFill/>
                    </a:lnR>
                    <a:lnT>
                      <a:noFill/>
                    </a:lnT>
                    <a:lnB>
                      <a:noFill/>
                    </a:lnB>
                    <a:noFill/>
                  </a:tcPr>
                </a:tc>
                <a:extLst>
                  <a:ext uri="{0D108BD9-81ED-4DB2-BD59-A6C34878D82A}">
                    <a16:rowId xmlns:a16="http://schemas.microsoft.com/office/drawing/2014/main" val="2295174293"/>
                  </a:ext>
                </a:extLst>
              </a:tr>
              <a:tr h="616837">
                <a:tc>
                  <a:txBody>
                    <a:bodyPr/>
                    <a:lstStyle/>
                    <a:p>
                      <a:pPr>
                        <a:buNone/>
                      </a:pPr>
                      <a:r>
                        <a:rPr lang="en-IN" sz="2000" b="1">
                          <a:latin typeface="Times New Roman" panose="02020603050405020304" pitchFamily="18" charset="0"/>
                          <a:cs typeface="Times New Roman" panose="02020603050405020304" pitchFamily="18" charset="0"/>
                        </a:rPr>
                        <a:t>D</a:t>
                      </a:r>
                      <a:endParaRPr lang="en-IN" sz="2000">
                        <a:latin typeface="Times New Roman" panose="02020603050405020304" pitchFamily="18" charset="0"/>
                        <a:cs typeface="Times New Roman" panose="02020603050405020304" pitchFamily="18" charset="0"/>
                      </a:endParaRP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Exploratory Data Analysis (EDA)</a:t>
                      </a: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 week</a:t>
                      </a:r>
                    </a:p>
                  </a:txBody>
                  <a:tcPr marL="60346" marR="60346" marT="30173" marB="30173" anchor="ctr">
                    <a:lnL>
                      <a:noFill/>
                    </a:lnL>
                    <a:lnR>
                      <a:noFill/>
                    </a:lnR>
                    <a:lnT>
                      <a:noFill/>
                    </a:lnT>
                    <a:lnB>
                      <a:noFill/>
                    </a:lnB>
                    <a:noFill/>
                  </a:tcPr>
                </a:tc>
                <a:extLst>
                  <a:ext uri="{0D108BD9-81ED-4DB2-BD59-A6C34878D82A}">
                    <a16:rowId xmlns:a16="http://schemas.microsoft.com/office/drawing/2014/main" val="1158393044"/>
                  </a:ext>
                </a:extLst>
              </a:tr>
              <a:tr h="352097">
                <a:tc>
                  <a:txBody>
                    <a:bodyPr/>
                    <a:lstStyle/>
                    <a:p>
                      <a:pPr>
                        <a:buNone/>
                      </a:pPr>
                      <a:r>
                        <a:rPr lang="en-IN" sz="2000" b="1">
                          <a:latin typeface="Times New Roman" panose="02020603050405020304" pitchFamily="18" charset="0"/>
                          <a:cs typeface="Times New Roman" panose="02020603050405020304" pitchFamily="18" charset="0"/>
                        </a:rPr>
                        <a:t>E</a:t>
                      </a:r>
                      <a:endParaRPr lang="en-IN" sz="2000">
                        <a:latin typeface="Times New Roman" panose="02020603050405020304" pitchFamily="18" charset="0"/>
                        <a:cs typeface="Times New Roman" panose="02020603050405020304" pitchFamily="18" charset="0"/>
                      </a:endParaRP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Feature Engineering</a:t>
                      </a: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 week</a:t>
                      </a:r>
                    </a:p>
                  </a:txBody>
                  <a:tcPr marL="60346" marR="60346" marT="30173" marB="30173" anchor="ctr">
                    <a:lnL>
                      <a:noFill/>
                    </a:lnL>
                    <a:lnR>
                      <a:noFill/>
                    </a:lnR>
                    <a:lnT>
                      <a:noFill/>
                    </a:lnT>
                    <a:lnB>
                      <a:noFill/>
                    </a:lnB>
                    <a:noFill/>
                  </a:tcPr>
                </a:tc>
                <a:extLst>
                  <a:ext uri="{0D108BD9-81ED-4DB2-BD59-A6C34878D82A}">
                    <a16:rowId xmlns:a16="http://schemas.microsoft.com/office/drawing/2014/main" val="3995116962"/>
                  </a:ext>
                </a:extLst>
              </a:tr>
              <a:tr h="616837">
                <a:tc>
                  <a:txBody>
                    <a:bodyPr/>
                    <a:lstStyle/>
                    <a:p>
                      <a:pPr>
                        <a:buNone/>
                      </a:pPr>
                      <a:r>
                        <a:rPr lang="en-IN" sz="2000" b="1">
                          <a:latin typeface="Times New Roman" panose="02020603050405020304" pitchFamily="18" charset="0"/>
                          <a:cs typeface="Times New Roman" panose="02020603050405020304" pitchFamily="18" charset="0"/>
                        </a:rPr>
                        <a:t>F</a:t>
                      </a:r>
                      <a:endParaRPr lang="en-IN" sz="2000">
                        <a:latin typeface="Times New Roman" panose="02020603050405020304" pitchFamily="18" charset="0"/>
                        <a:cs typeface="Times New Roman" panose="02020603050405020304" pitchFamily="18" charset="0"/>
                      </a:endParaRPr>
                    </a:p>
                  </a:txBody>
                  <a:tcPr marL="60346" marR="60346" marT="30173" marB="30173"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Model Training (LR, RF, Gradient Boosting)</a:t>
                      </a:r>
                    </a:p>
                  </a:txBody>
                  <a:tcPr marL="60346" marR="60346" marT="30173" marB="30173"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1–2 weeks</a:t>
                      </a:r>
                    </a:p>
                  </a:txBody>
                  <a:tcPr marL="60346" marR="60346" marT="30173" marB="30173" anchor="ctr">
                    <a:lnL>
                      <a:noFill/>
                    </a:lnL>
                    <a:lnR>
                      <a:noFill/>
                    </a:lnR>
                    <a:lnT>
                      <a:noFill/>
                    </a:lnT>
                    <a:lnB>
                      <a:noFill/>
                    </a:lnB>
                    <a:noFill/>
                  </a:tcPr>
                </a:tc>
                <a:extLst>
                  <a:ext uri="{0D108BD9-81ED-4DB2-BD59-A6C34878D82A}">
                    <a16:rowId xmlns:a16="http://schemas.microsoft.com/office/drawing/2014/main" val="3570135754"/>
                  </a:ext>
                </a:extLst>
              </a:tr>
              <a:tr h="616837">
                <a:tc>
                  <a:txBody>
                    <a:bodyPr/>
                    <a:lstStyle/>
                    <a:p>
                      <a:pPr>
                        <a:buNone/>
                      </a:pPr>
                      <a:r>
                        <a:rPr lang="en-IN" sz="2000" b="1">
                          <a:latin typeface="Times New Roman" panose="02020603050405020304" pitchFamily="18" charset="0"/>
                          <a:cs typeface="Times New Roman" panose="02020603050405020304" pitchFamily="18" charset="0"/>
                        </a:rPr>
                        <a:t>G</a:t>
                      </a:r>
                      <a:endParaRPr lang="en-IN" sz="2000">
                        <a:latin typeface="Times New Roman" panose="02020603050405020304" pitchFamily="18" charset="0"/>
                        <a:cs typeface="Times New Roman" panose="02020603050405020304" pitchFamily="18" charset="0"/>
                      </a:endParaRP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Model Evaluation &amp; PD Calibration</a:t>
                      </a:r>
                    </a:p>
                  </a:txBody>
                  <a:tcPr marL="60346" marR="60346" marT="30173" marB="30173"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 week</a:t>
                      </a:r>
                    </a:p>
                  </a:txBody>
                  <a:tcPr marL="60346" marR="60346" marT="30173" marB="30173" anchor="ctr">
                    <a:lnL>
                      <a:noFill/>
                    </a:lnL>
                    <a:lnR>
                      <a:noFill/>
                    </a:lnR>
                    <a:lnT>
                      <a:noFill/>
                    </a:lnT>
                    <a:lnB>
                      <a:noFill/>
                    </a:lnB>
                    <a:noFill/>
                  </a:tcPr>
                </a:tc>
                <a:extLst>
                  <a:ext uri="{0D108BD9-81ED-4DB2-BD59-A6C34878D82A}">
                    <a16:rowId xmlns:a16="http://schemas.microsoft.com/office/drawing/2014/main" val="3453001674"/>
                  </a:ext>
                </a:extLst>
              </a:tr>
              <a:tr h="616837">
                <a:tc>
                  <a:txBody>
                    <a:bodyPr/>
                    <a:lstStyle/>
                    <a:p>
                      <a:pPr>
                        <a:buNone/>
                      </a:pPr>
                      <a:r>
                        <a:rPr lang="en-IN" sz="2000" b="1">
                          <a:latin typeface="Times New Roman" panose="02020603050405020304" pitchFamily="18" charset="0"/>
                          <a:cs typeface="Times New Roman" panose="02020603050405020304" pitchFamily="18" charset="0"/>
                        </a:rPr>
                        <a:t>H</a:t>
                      </a:r>
                      <a:endParaRPr lang="en-IN" sz="2000">
                        <a:latin typeface="Times New Roman" panose="02020603050405020304" pitchFamily="18" charset="0"/>
                        <a:cs typeface="Times New Roman" panose="02020603050405020304" pitchFamily="18" charset="0"/>
                      </a:endParaRP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Explainability &amp; Threshold Design</a:t>
                      </a:r>
                    </a:p>
                  </a:txBody>
                  <a:tcPr marL="60346" marR="60346" marT="30173" marB="30173"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 week</a:t>
                      </a:r>
                    </a:p>
                  </a:txBody>
                  <a:tcPr marL="60346" marR="60346" marT="30173" marB="30173" anchor="ctr">
                    <a:lnL>
                      <a:noFill/>
                    </a:lnL>
                    <a:lnR>
                      <a:noFill/>
                    </a:lnR>
                    <a:lnT>
                      <a:noFill/>
                    </a:lnT>
                    <a:lnB>
                      <a:noFill/>
                    </a:lnB>
                    <a:noFill/>
                  </a:tcPr>
                </a:tc>
                <a:extLst>
                  <a:ext uri="{0D108BD9-81ED-4DB2-BD59-A6C34878D82A}">
                    <a16:rowId xmlns:a16="http://schemas.microsoft.com/office/drawing/2014/main" val="2018514679"/>
                  </a:ext>
                </a:extLst>
              </a:tr>
              <a:tr h="352097">
                <a:tc>
                  <a:txBody>
                    <a:bodyPr/>
                    <a:lstStyle/>
                    <a:p>
                      <a:pPr>
                        <a:buNone/>
                      </a:pPr>
                      <a:r>
                        <a:rPr lang="en-IN" sz="2000" b="1">
                          <a:latin typeface="Times New Roman" panose="02020603050405020304" pitchFamily="18" charset="0"/>
                          <a:cs typeface="Times New Roman" panose="02020603050405020304" pitchFamily="18" charset="0"/>
                        </a:rPr>
                        <a:t>I</a:t>
                      </a:r>
                      <a:endParaRPr lang="en-IN" sz="2000">
                        <a:latin typeface="Times New Roman" panose="02020603050405020304" pitchFamily="18" charset="0"/>
                        <a:cs typeface="Times New Roman" panose="02020603050405020304" pitchFamily="18" charset="0"/>
                      </a:endParaRP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Deployment Prototype</a:t>
                      </a: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 week</a:t>
                      </a:r>
                    </a:p>
                  </a:txBody>
                  <a:tcPr marL="60346" marR="60346" marT="30173" marB="30173" anchor="ctr">
                    <a:lnL>
                      <a:noFill/>
                    </a:lnL>
                    <a:lnR>
                      <a:noFill/>
                    </a:lnR>
                    <a:lnT>
                      <a:noFill/>
                    </a:lnT>
                    <a:lnB>
                      <a:noFill/>
                    </a:lnB>
                    <a:noFill/>
                  </a:tcPr>
                </a:tc>
                <a:extLst>
                  <a:ext uri="{0D108BD9-81ED-4DB2-BD59-A6C34878D82A}">
                    <a16:rowId xmlns:a16="http://schemas.microsoft.com/office/drawing/2014/main" val="3049669574"/>
                  </a:ext>
                </a:extLst>
              </a:tr>
              <a:tr h="616837">
                <a:tc>
                  <a:txBody>
                    <a:bodyPr/>
                    <a:lstStyle/>
                    <a:p>
                      <a:pPr>
                        <a:buNone/>
                      </a:pPr>
                      <a:r>
                        <a:rPr lang="en-IN" sz="2000" b="1">
                          <a:latin typeface="Times New Roman" panose="02020603050405020304" pitchFamily="18" charset="0"/>
                          <a:cs typeface="Times New Roman" panose="02020603050405020304" pitchFamily="18" charset="0"/>
                        </a:rPr>
                        <a:t>J</a:t>
                      </a:r>
                      <a:endParaRPr lang="en-IN" sz="2000">
                        <a:latin typeface="Times New Roman" panose="02020603050405020304" pitchFamily="18" charset="0"/>
                        <a:cs typeface="Times New Roman" panose="02020603050405020304" pitchFamily="18" charset="0"/>
                      </a:endParaRP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Monitoring Strategy &amp; Retraining Plan</a:t>
                      </a: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0.5–1 week</a:t>
                      </a:r>
                    </a:p>
                  </a:txBody>
                  <a:tcPr marL="60346" marR="60346" marT="30173" marB="30173" anchor="ctr">
                    <a:lnL>
                      <a:noFill/>
                    </a:lnL>
                    <a:lnR>
                      <a:noFill/>
                    </a:lnR>
                    <a:lnT>
                      <a:noFill/>
                    </a:lnT>
                    <a:lnB>
                      <a:noFill/>
                    </a:lnB>
                    <a:noFill/>
                  </a:tcPr>
                </a:tc>
                <a:extLst>
                  <a:ext uri="{0D108BD9-81ED-4DB2-BD59-A6C34878D82A}">
                    <a16:rowId xmlns:a16="http://schemas.microsoft.com/office/drawing/2014/main" val="1328386581"/>
                  </a:ext>
                </a:extLst>
              </a:tr>
              <a:tr h="616837">
                <a:tc>
                  <a:txBody>
                    <a:bodyPr/>
                    <a:lstStyle/>
                    <a:p>
                      <a:pPr>
                        <a:buNone/>
                      </a:pPr>
                      <a:r>
                        <a:rPr lang="en-IN" sz="2000" b="1" dirty="0">
                          <a:latin typeface="Times New Roman" panose="02020603050405020304" pitchFamily="18" charset="0"/>
                          <a:cs typeface="Times New Roman" panose="02020603050405020304" pitchFamily="18" charset="0"/>
                        </a:rPr>
                        <a:t>K</a:t>
                      </a:r>
                      <a:endParaRPr lang="en-IN" sz="2000" dirty="0">
                        <a:latin typeface="Times New Roman" panose="02020603050405020304" pitchFamily="18" charset="0"/>
                        <a:cs typeface="Times New Roman" panose="02020603050405020304" pitchFamily="18" charset="0"/>
                      </a:endParaRPr>
                    </a:p>
                  </a:txBody>
                  <a:tcPr marL="60346" marR="60346" marT="30173" marB="3017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Report Writing &amp; Presentation</a:t>
                      </a:r>
                    </a:p>
                  </a:txBody>
                  <a:tcPr marL="60346" marR="60346" marT="30173" marB="30173"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 week</a:t>
                      </a:r>
                    </a:p>
                  </a:txBody>
                  <a:tcPr marL="60346" marR="60346" marT="30173" marB="30173" anchor="ctr">
                    <a:lnL>
                      <a:noFill/>
                    </a:lnL>
                    <a:lnR>
                      <a:noFill/>
                    </a:lnR>
                    <a:lnT>
                      <a:noFill/>
                    </a:lnT>
                    <a:lnB>
                      <a:noFill/>
                    </a:lnB>
                    <a:noFill/>
                  </a:tcPr>
                </a:tc>
                <a:extLst>
                  <a:ext uri="{0D108BD9-81ED-4DB2-BD59-A6C34878D82A}">
                    <a16:rowId xmlns:a16="http://schemas.microsoft.com/office/drawing/2014/main" val="2896571555"/>
                  </a:ext>
                </a:extLst>
              </a:tr>
            </a:tbl>
          </a:graphicData>
        </a:graphic>
      </p:graphicFrame>
    </p:spTree>
    <p:extLst>
      <p:ext uri="{BB962C8B-B14F-4D97-AF65-F5344CB8AC3E}">
        <p14:creationId xmlns:p14="http://schemas.microsoft.com/office/powerpoint/2010/main" val="3352323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108314"/>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sp>
        <p:nvSpPr>
          <p:cNvPr id="4" name="TextBox 4"/>
          <p:cNvSpPr txBox="1"/>
          <p:nvPr/>
        </p:nvSpPr>
        <p:spPr>
          <a:xfrm>
            <a:off x="5562600" y="1534755"/>
            <a:ext cx="7111410" cy="908903"/>
          </a:xfrm>
          <a:prstGeom prst="rect">
            <a:avLst/>
          </a:prstGeom>
        </p:spPr>
        <p:txBody>
          <a:bodyPr wrap="square"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Area of Application</a:t>
            </a:r>
          </a:p>
        </p:txBody>
      </p:sp>
      <p:sp>
        <p:nvSpPr>
          <p:cNvPr id="5" name="TextBox 5"/>
          <p:cNvSpPr txBox="1"/>
          <p:nvPr/>
        </p:nvSpPr>
        <p:spPr>
          <a:xfrm>
            <a:off x="1295400" y="2995612"/>
            <a:ext cx="15773400" cy="6449907"/>
          </a:xfrm>
          <a:prstGeom prst="rect">
            <a:avLst/>
          </a:prstGeom>
        </p:spPr>
        <p:txBody>
          <a:bodyPr wrap="square" lIns="0" tIns="0" rIns="0" bIns="0" rtlCol="0" anchor="t">
            <a:spAutoFit/>
          </a:bodyPr>
          <a:lstStyle/>
          <a:p>
            <a:pPr marL="765692" lvl="1" indent="-382846" algn="just">
              <a:lnSpc>
                <a:spcPct val="150000"/>
              </a:lnSpc>
              <a:buFont typeface="Arial"/>
              <a:buChar char="•"/>
            </a:pPr>
            <a:r>
              <a:rPr lang="en-US" sz="3546" b="1" dirty="0">
                <a:solidFill>
                  <a:srgbClr val="000000"/>
                </a:solidFill>
                <a:latin typeface="Times New Roman"/>
                <a:ea typeface="Times New Roman"/>
                <a:cs typeface="Times New Roman"/>
                <a:sym typeface="Times New Roman"/>
              </a:rPr>
              <a:t>Risk-Based Pricing: </a:t>
            </a:r>
            <a:r>
              <a:rPr lang="en-US" sz="3546" dirty="0">
                <a:solidFill>
                  <a:srgbClr val="000000"/>
                </a:solidFill>
                <a:latin typeface="Times New Roman"/>
                <a:ea typeface="Times New Roman"/>
                <a:cs typeface="Times New Roman"/>
                <a:sym typeface="Times New Roman"/>
              </a:rPr>
              <a:t>You can offer personalized interest rates. Instead of a flat rate, you can offer a lower rate to a very low-risk borrower, making your product more competitive.</a:t>
            </a:r>
          </a:p>
          <a:p>
            <a:pPr marL="765692" lvl="1" indent="-382846" algn="just">
              <a:lnSpc>
                <a:spcPct val="150000"/>
              </a:lnSpc>
              <a:buFont typeface="Arial"/>
              <a:buChar char="•"/>
            </a:pPr>
            <a:r>
              <a:rPr lang="en-US" sz="3546" b="1" dirty="0">
                <a:solidFill>
                  <a:srgbClr val="000000"/>
                </a:solidFill>
                <a:latin typeface="Times New Roman"/>
                <a:ea typeface="Times New Roman"/>
                <a:cs typeface="Times New Roman"/>
                <a:sym typeface="Times New Roman"/>
              </a:rPr>
              <a:t>Alternative Data: </a:t>
            </a:r>
            <a:r>
              <a:rPr lang="en-US" sz="3546" dirty="0">
                <a:solidFill>
                  <a:srgbClr val="000000"/>
                </a:solidFill>
                <a:latin typeface="Times New Roman"/>
                <a:ea typeface="Times New Roman"/>
                <a:cs typeface="Times New Roman"/>
                <a:sym typeface="Times New Roman"/>
              </a:rPr>
              <a:t>By using utility bill payments, mobile usage, or transaction history, you can provide credit to millions of underserved people who were previously "invisible" to banks.</a:t>
            </a:r>
          </a:p>
          <a:p>
            <a:pPr marL="765692" lvl="1" indent="-382846" algn="just">
              <a:lnSpc>
                <a:spcPct val="150000"/>
              </a:lnSpc>
              <a:buFont typeface="Arial"/>
              <a:buChar char="•"/>
            </a:pPr>
            <a:r>
              <a:rPr lang="en-US" sz="3546" b="1" dirty="0">
                <a:solidFill>
                  <a:srgbClr val="000000"/>
                </a:solidFill>
                <a:latin typeface="Times New Roman"/>
                <a:ea typeface="Times New Roman"/>
                <a:cs typeface="Times New Roman"/>
                <a:sym typeface="Times New Roman"/>
              </a:rPr>
              <a:t>Faster Access to Credit: </a:t>
            </a:r>
            <a:r>
              <a:rPr lang="en-US" sz="3546" dirty="0">
                <a:solidFill>
                  <a:srgbClr val="000000"/>
                </a:solidFill>
                <a:latin typeface="Times New Roman"/>
                <a:ea typeface="Times New Roman"/>
                <a:cs typeface="Times New Roman"/>
                <a:sym typeface="Times New Roman"/>
              </a:rPr>
              <a:t>Real-time assessment means borrowers can get emergency funds or business loans almost instantly via mobile apps.</a:t>
            </a:r>
          </a:p>
        </p:txBody>
      </p:sp>
      <p:grpSp>
        <p:nvGrpSpPr>
          <p:cNvPr id="6" name="Group 6"/>
          <p:cNvGrpSpPr/>
          <p:nvPr/>
        </p:nvGrpSpPr>
        <p:grpSpPr>
          <a:xfrm>
            <a:off x="16077133" y="217541"/>
            <a:ext cx="2004384" cy="811159"/>
            <a:chOff x="0" y="0"/>
            <a:chExt cx="2672512" cy="1081545"/>
          </a:xfrm>
        </p:grpSpPr>
        <p:sp>
          <p:nvSpPr>
            <p:cNvPr id="7" name="Freeform 7"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108314"/>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grpSp>
        <p:nvGrpSpPr>
          <p:cNvPr id="4" name="Group 4"/>
          <p:cNvGrpSpPr/>
          <p:nvPr/>
        </p:nvGrpSpPr>
        <p:grpSpPr>
          <a:xfrm>
            <a:off x="16077133" y="217541"/>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
        <p:nvSpPr>
          <p:cNvPr id="6" name="TextBox 6"/>
          <p:cNvSpPr txBox="1"/>
          <p:nvPr/>
        </p:nvSpPr>
        <p:spPr>
          <a:xfrm>
            <a:off x="6781800" y="1211008"/>
            <a:ext cx="4255770" cy="908903"/>
          </a:xfrm>
          <a:prstGeom prst="rect">
            <a:avLst/>
          </a:prstGeom>
        </p:spPr>
        <p:txBody>
          <a:bodyPr wrap="square"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Conclusion</a:t>
            </a:r>
          </a:p>
        </p:txBody>
      </p:sp>
      <p:sp>
        <p:nvSpPr>
          <p:cNvPr id="7" name="TextBox 7"/>
          <p:cNvSpPr txBox="1"/>
          <p:nvPr/>
        </p:nvSpPr>
        <p:spPr>
          <a:xfrm>
            <a:off x="1371580" y="2887222"/>
            <a:ext cx="15544800" cy="5432962"/>
          </a:xfrm>
          <a:prstGeom prst="rect">
            <a:avLst/>
          </a:prstGeom>
        </p:spPr>
        <p:txBody>
          <a:bodyPr wrap="square" lIns="0" tIns="0" rIns="0" bIns="0" rtlCol="0" anchor="t">
            <a:spAutoFit/>
          </a:bodyPr>
          <a:lstStyle/>
          <a:p>
            <a:pPr marL="738745" lvl="1" indent="-369372" algn="l">
              <a:lnSpc>
                <a:spcPct val="150000"/>
              </a:lnSpc>
              <a:buFont typeface="Arial"/>
              <a:buChar char="•"/>
            </a:pPr>
            <a:r>
              <a:rPr lang="en-US" sz="3421" dirty="0">
                <a:solidFill>
                  <a:srgbClr val="000000"/>
                </a:solidFill>
                <a:latin typeface="Times New Roman"/>
                <a:ea typeface="Times New Roman"/>
                <a:cs typeface="Times New Roman"/>
                <a:sym typeface="Times New Roman"/>
              </a:rPr>
              <a:t>Develops an </a:t>
            </a:r>
            <a:r>
              <a:rPr lang="en-US" sz="3421" b="1" dirty="0">
                <a:solidFill>
                  <a:srgbClr val="000000"/>
                </a:solidFill>
                <a:latin typeface="Times New Roman"/>
                <a:ea typeface="Times New Roman"/>
                <a:cs typeface="Times New Roman"/>
                <a:sym typeface="Times New Roman"/>
              </a:rPr>
              <a:t>explainable credit risk prediction system </a:t>
            </a:r>
            <a:r>
              <a:rPr lang="en-US" sz="3421" dirty="0">
                <a:solidFill>
                  <a:srgbClr val="000000"/>
                </a:solidFill>
                <a:latin typeface="Times New Roman"/>
                <a:ea typeface="Times New Roman"/>
                <a:cs typeface="Times New Roman"/>
                <a:sym typeface="Times New Roman"/>
              </a:rPr>
              <a:t>focused on </a:t>
            </a:r>
            <a:r>
              <a:rPr lang="en-US" sz="3421" b="1" dirty="0">
                <a:solidFill>
                  <a:srgbClr val="000000"/>
                </a:solidFill>
                <a:latin typeface="Times New Roman"/>
                <a:ea typeface="Times New Roman"/>
                <a:cs typeface="Times New Roman"/>
                <a:sym typeface="Times New Roman"/>
              </a:rPr>
              <a:t>Probability of Default </a:t>
            </a:r>
            <a:r>
              <a:rPr lang="en-US" sz="3421" dirty="0">
                <a:solidFill>
                  <a:srgbClr val="000000"/>
                </a:solidFill>
                <a:latin typeface="Times New Roman"/>
                <a:ea typeface="Times New Roman"/>
                <a:cs typeface="Times New Roman"/>
                <a:sym typeface="Times New Roman"/>
              </a:rPr>
              <a:t>(PD).</a:t>
            </a:r>
          </a:p>
          <a:p>
            <a:pPr marL="738745" lvl="1" indent="-369372" algn="l">
              <a:lnSpc>
                <a:spcPct val="150000"/>
              </a:lnSpc>
              <a:buFont typeface="Arial"/>
              <a:buChar char="•"/>
            </a:pPr>
            <a:r>
              <a:rPr lang="en-US" sz="3421" dirty="0">
                <a:solidFill>
                  <a:srgbClr val="000000"/>
                </a:solidFill>
                <a:latin typeface="Times New Roman"/>
                <a:ea typeface="Times New Roman"/>
                <a:cs typeface="Times New Roman"/>
                <a:sym typeface="Times New Roman"/>
              </a:rPr>
              <a:t>Helps financial institutions make accurate lending decisions using PD estimates.</a:t>
            </a:r>
          </a:p>
          <a:p>
            <a:pPr marL="738745" lvl="1" indent="-369372" algn="l">
              <a:lnSpc>
                <a:spcPct val="150000"/>
              </a:lnSpc>
              <a:buFont typeface="Arial"/>
              <a:buChar char="•"/>
            </a:pPr>
            <a:r>
              <a:rPr lang="en-US" sz="3421" dirty="0">
                <a:solidFill>
                  <a:srgbClr val="000000"/>
                </a:solidFill>
                <a:latin typeface="Times New Roman"/>
                <a:ea typeface="Times New Roman"/>
                <a:cs typeface="Times New Roman"/>
                <a:sym typeface="Times New Roman"/>
              </a:rPr>
              <a:t>Ensures </a:t>
            </a:r>
            <a:r>
              <a:rPr lang="en-US" sz="3421" b="1" dirty="0">
                <a:solidFill>
                  <a:srgbClr val="000000"/>
                </a:solidFill>
                <a:latin typeface="Times New Roman"/>
                <a:ea typeface="Times New Roman"/>
                <a:cs typeface="Times New Roman"/>
                <a:sym typeface="Times New Roman"/>
              </a:rPr>
              <a:t>transparency</a:t>
            </a:r>
            <a:r>
              <a:rPr lang="en-US" sz="3421" dirty="0">
                <a:solidFill>
                  <a:srgbClr val="000000"/>
                </a:solidFill>
                <a:latin typeface="Times New Roman"/>
                <a:ea typeface="Times New Roman"/>
                <a:cs typeface="Times New Roman"/>
                <a:sym typeface="Times New Roman"/>
              </a:rPr>
              <a:t> in the decision-making process.</a:t>
            </a:r>
          </a:p>
          <a:p>
            <a:pPr marL="738745" lvl="1" indent="-369372" algn="l">
              <a:lnSpc>
                <a:spcPct val="150000"/>
              </a:lnSpc>
              <a:buFont typeface="Arial"/>
              <a:buChar char="•"/>
            </a:pPr>
            <a:r>
              <a:rPr lang="en-US" sz="3421" dirty="0">
                <a:solidFill>
                  <a:srgbClr val="000000"/>
                </a:solidFill>
                <a:latin typeface="Times New Roman"/>
                <a:ea typeface="Times New Roman"/>
                <a:cs typeface="Times New Roman"/>
                <a:sym typeface="Times New Roman"/>
              </a:rPr>
              <a:t>Generates default risk scores for each borrower.</a:t>
            </a:r>
          </a:p>
          <a:p>
            <a:pPr marL="738745" lvl="1" indent="-369372" algn="l">
              <a:lnSpc>
                <a:spcPct val="150000"/>
              </a:lnSpc>
              <a:buFont typeface="Arial"/>
              <a:buChar char="•"/>
            </a:pPr>
            <a:r>
              <a:rPr lang="en-US" sz="3421" dirty="0">
                <a:solidFill>
                  <a:srgbClr val="000000"/>
                </a:solidFill>
                <a:latin typeface="Times New Roman"/>
                <a:ea typeface="Times New Roman"/>
                <a:cs typeface="Times New Roman"/>
                <a:sym typeface="Times New Roman"/>
              </a:rPr>
              <a:t>Enables borrower classification into risk categories based on PD thresholds.</a:t>
            </a:r>
          </a:p>
          <a:p>
            <a:pPr marL="738745" lvl="1" indent="-369372" algn="l">
              <a:lnSpc>
                <a:spcPct val="150000"/>
              </a:lnSpc>
              <a:buFont typeface="Arial"/>
              <a:buChar char="•"/>
            </a:pPr>
            <a:r>
              <a:rPr lang="en-US" sz="3421" dirty="0">
                <a:solidFill>
                  <a:srgbClr val="000000"/>
                </a:solidFill>
                <a:latin typeface="Times New Roman"/>
                <a:ea typeface="Times New Roman"/>
                <a:cs typeface="Times New Roman"/>
                <a:sym typeface="Times New Roman"/>
              </a:rPr>
              <a:t>Supports improved credit risk management and portfolio monitoring.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108314"/>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grpSp>
        <p:nvGrpSpPr>
          <p:cNvPr id="4" name="Group 4"/>
          <p:cNvGrpSpPr/>
          <p:nvPr/>
        </p:nvGrpSpPr>
        <p:grpSpPr>
          <a:xfrm>
            <a:off x="16077133" y="217541"/>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
        <p:nvSpPr>
          <p:cNvPr id="6" name="TextBox 6"/>
          <p:cNvSpPr txBox="1"/>
          <p:nvPr/>
        </p:nvSpPr>
        <p:spPr>
          <a:xfrm>
            <a:off x="6934200" y="1000125"/>
            <a:ext cx="4050407" cy="908903"/>
          </a:xfrm>
          <a:prstGeom prst="rect">
            <a:avLst/>
          </a:prstGeom>
        </p:spPr>
        <p:txBody>
          <a:bodyPr wrap="square" lIns="0" tIns="0" rIns="0" bIns="0" rtlCol="0" anchor="t">
            <a:spAutoFit/>
          </a:bodyPr>
          <a:lstStyle/>
          <a:p>
            <a:pPr algn="ctr">
              <a:lnSpc>
                <a:spcPts val="7487"/>
              </a:lnSpc>
              <a:spcBef>
                <a:spcPct val="0"/>
              </a:spcBef>
            </a:pPr>
            <a:r>
              <a:rPr lang="en-US" sz="6239" b="1" dirty="0">
                <a:solidFill>
                  <a:srgbClr val="000000"/>
                </a:solidFill>
                <a:latin typeface="Times New Roman Bold"/>
                <a:ea typeface="Times New Roman Bold"/>
                <a:cs typeface="Times New Roman Bold"/>
                <a:sym typeface="Times New Roman Bold"/>
              </a:rPr>
              <a:t>References</a:t>
            </a:r>
          </a:p>
        </p:txBody>
      </p:sp>
      <p:sp>
        <p:nvSpPr>
          <p:cNvPr id="7" name="TextBox 7"/>
          <p:cNvSpPr txBox="1"/>
          <p:nvPr/>
        </p:nvSpPr>
        <p:spPr>
          <a:xfrm>
            <a:off x="1295400" y="2428875"/>
            <a:ext cx="15381311" cy="6976269"/>
          </a:xfrm>
          <a:prstGeom prst="rect">
            <a:avLst/>
          </a:prstGeom>
        </p:spPr>
        <p:txBody>
          <a:bodyPr wrap="square" lIns="0" tIns="0" rIns="0" bIns="0" rtlCol="0" anchor="t">
            <a:spAutoFit/>
          </a:bodyPr>
          <a:lstStyle/>
          <a:p>
            <a:pPr algn="just">
              <a:lnSpc>
                <a:spcPts val="3215"/>
              </a:lnSpc>
            </a:pPr>
            <a:r>
              <a:rPr lang="en-US" sz="2679" dirty="0">
                <a:latin typeface="Times New Roman" panose="02020603050405020304" pitchFamily="18" charset="0"/>
                <a:ea typeface="Times New Roman Bold"/>
                <a:cs typeface="Times New Roman" panose="02020603050405020304" pitchFamily="18" charset="0"/>
                <a:sym typeface="Times New Roman Bold"/>
                <a:hlinkClick r:id="rId3" tooltip="https://www.researchgate.net/publication/381548370_Citation_Bello_OA_2023_Machine_Learning_Algorithms_for_Credit_Risk_Assessment_An_Economic_and_Financial_Analysis">
                  <a:extLst>
                    <a:ext uri="{A12FA001-AC4F-418D-AE19-62706E023703}">
                      <ahyp:hlinkClr xmlns:ahyp="http://schemas.microsoft.com/office/drawing/2018/hyperlinkcolor" val="tx"/>
                    </a:ext>
                  </a:extLst>
                </a:hlinkClick>
              </a:rPr>
              <a:t>[1] Bello, </a:t>
            </a:r>
            <a:r>
              <a:rPr lang="en-US" sz="2679" dirty="0" err="1">
                <a:latin typeface="Times New Roman" panose="02020603050405020304" pitchFamily="18" charset="0"/>
                <a:ea typeface="Times New Roman Bold"/>
                <a:cs typeface="Times New Roman" panose="02020603050405020304" pitchFamily="18" charset="0"/>
                <a:sym typeface="Times New Roman Bold"/>
                <a:hlinkClick r:id="rId3" tooltip="https://www.researchgate.net/publication/381548370_Citation_Bello_OA_2023_Machine_Learning_Algorithms_for_Credit_Risk_Assessment_An_Economic_and_Financial_Analysis">
                  <a:extLst>
                    <a:ext uri="{A12FA001-AC4F-418D-AE19-62706E023703}">
                      <ahyp:hlinkClr xmlns:ahyp="http://schemas.microsoft.com/office/drawing/2018/hyperlinkcolor" val="tx"/>
                    </a:ext>
                  </a:extLst>
                </a:hlinkClick>
              </a:rPr>
              <a:t>Oluwabusayo</a:t>
            </a:r>
            <a:r>
              <a:rPr lang="en-US" sz="2679" dirty="0">
                <a:latin typeface="Times New Roman" panose="02020603050405020304" pitchFamily="18" charset="0"/>
                <a:ea typeface="Times New Roman Bold"/>
                <a:cs typeface="Times New Roman" panose="02020603050405020304" pitchFamily="18" charset="0"/>
                <a:sym typeface="Times New Roman Bold"/>
                <a:hlinkClick r:id="rId3" tooltip="https://www.researchgate.net/publication/381548370_Citation_Bello_OA_2023_Machine_Learning_Algorithms_for_Credit_Risk_Assessment_An_Economic_and_Financial_Analysis">
                  <a:extLst>
                    <a:ext uri="{A12FA001-AC4F-418D-AE19-62706E023703}">
                      <ahyp:hlinkClr xmlns:ahyp="http://schemas.microsoft.com/office/drawing/2018/hyperlinkcolor" val="tx"/>
                    </a:ext>
                  </a:extLst>
                </a:hlinkClick>
              </a:rPr>
              <a:t>. (2023). Citation: Bello O.A. (2023) Machine Learning Algorithms for Credit Risk  Assessment: An Economic and Financial Analysis. 109-133. 10.37745/ijmt.2013/vol10n1109133.</a:t>
            </a:r>
            <a:r>
              <a:rPr lang="en-US" sz="2679" dirty="0">
                <a:latin typeface="Times New Roman" panose="02020603050405020304" pitchFamily="18" charset="0"/>
                <a:ea typeface="Times New Roman Bold"/>
                <a:cs typeface="Times New Roman" panose="02020603050405020304" pitchFamily="18" charset="0"/>
                <a:sym typeface="Times New Roman Bold"/>
              </a:rPr>
              <a:t> </a:t>
            </a:r>
          </a:p>
          <a:p>
            <a:pPr algn="just">
              <a:lnSpc>
                <a:spcPts val="3215"/>
              </a:lnSpc>
            </a:pPr>
            <a:endParaRPr lang="en-US" sz="2679" dirty="0">
              <a:latin typeface="Times New Roman" panose="02020603050405020304" pitchFamily="18" charset="0"/>
              <a:ea typeface="Times New Roman Bold"/>
              <a:cs typeface="Times New Roman" panose="02020603050405020304" pitchFamily="18" charset="0"/>
              <a:sym typeface="Times New Roman Bold"/>
            </a:endParaRPr>
          </a:p>
          <a:p>
            <a:pPr algn="just">
              <a:lnSpc>
                <a:spcPts val="3215"/>
              </a:lnSpc>
            </a:pPr>
            <a:r>
              <a:rPr lang="en-US" sz="2679" dirty="0">
                <a:latin typeface="Times New Roman" panose="02020603050405020304" pitchFamily="18" charset="0"/>
                <a:ea typeface="Times New Roman Bold"/>
                <a:cs typeface="Times New Roman" panose="02020603050405020304" pitchFamily="18" charset="0"/>
                <a:sym typeface="Times New Roman Bold"/>
                <a:hlinkClick r:id="rId4" tooltip="https://www.researchgate.net/publication/398790846_Balancing_Fairness_and_Accuracy_in_Machine_Learning-Based_Probability_of_Default_Modeling_via_Threshold_Optimization">
                  <a:extLst>
                    <a:ext uri="{A12FA001-AC4F-418D-AE19-62706E023703}">
                      <ahyp:hlinkClr xmlns:ahyp="http://schemas.microsoft.com/office/drawing/2018/hyperlinkcolor" val="tx"/>
                    </a:ext>
                  </a:extLst>
                </a:hlinkClick>
              </a:rPr>
              <a:t>[2] Kpatcha, </a:t>
            </a:r>
            <a:r>
              <a:rPr lang="en-US" sz="2679" dirty="0" err="1">
                <a:latin typeface="Times New Roman" panose="02020603050405020304" pitchFamily="18" charset="0"/>
                <a:ea typeface="Times New Roman Bold"/>
                <a:cs typeface="Times New Roman" panose="02020603050405020304" pitchFamily="18" charset="0"/>
                <a:sym typeface="Times New Roman Bold"/>
                <a:hlinkClick r:id="rId4" tooltip="https://www.researchgate.net/publication/398790846_Balancing_Fairness_and_Accuracy_in_Machine_Learning-Based_Probability_of_Default_Modeling_via_Threshold_Optimization">
                  <a:extLst>
                    <a:ext uri="{A12FA001-AC4F-418D-AE19-62706E023703}">
                      <ahyp:hlinkClr xmlns:ahyp="http://schemas.microsoft.com/office/drawing/2018/hyperlinkcolor" val="tx"/>
                    </a:ext>
                  </a:extLst>
                </a:hlinkClick>
              </a:rPr>
              <a:t>Essodjolo</a:t>
            </a:r>
            <a:r>
              <a:rPr lang="en-US" sz="2679" dirty="0">
                <a:latin typeface="Times New Roman" panose="02020603050405020304" pitchFamily="18" charset="0"/>
                <a:ea typeface="Times New Roman Bold"/>
                <a:cs typeface="Times New Roman" panose="02020603050405020304" pitchFamily="18" charset="0"/>
                <a:sym typeface="Times New Roman Bold"/>
                <a:hlinkClick r:id="rId4" tooltip="https://www.researchgate.net/publication/398790846_Balancing_Fairness_and_Accuracy_in_Machine_Learning-Based_Probability_of_Default_Modeling_via_Threshold_Optimization">
                  <a:extLst>
                    <a:ext uri="{A12FA001-AC4F-418D-AE19-62706E023703}">
                      <ahyp:hlinkClr xmlns:ahyp="http://schemas.microsoft.com/office/drawing/2018/hyperlinkcolor" val="tx"/>
                    </a:ext>
                  </a:extLst>
                </a:hlinkClick>
              </a:rPr>
              <a:t>. (2025). Balancing Fairness and Accuracy in Machine Learning-Based Probability of Default Modeling via Threshold Optimization. Journal of Risk and Financial Management. 18. 724. 10.3390/jrfm18120724. </a:t>
            </a:r>
          </a:p>
          <a:p>
            <a:pPr algn="just">
              <a:lnSpc>
                <a:spcPts val="3215"/>
              </a:lnSpc>
            </a:pPr>
            <a:endParaRPr lang="en-US" sz="2679" dirty="0">
              <a:latin typeface="Times New Roman" panose="02020603050405020304" pitchFamily="18" charset="0"/>
              <a:ea typeface="Times New Roman Bold"/>
              <a:cs typeface="Times New Roman" panose="02020603050405020304" pitchFamily="18" charset="0"/>
              <a:sym typeface="Times New Roman Bold"/>
              <a:hlinkClick r:id="rId4" tooltip="https://www.researchgate.net/publication/398790846_Balancing_Fairness_and_Accuracy_in_Machine_Learning-Based_Probability_of_Default_Modeling_via_Threshold_Optimization">
                <a:extLst>
                  <a:ext uri="{A12FA001-AC4F-418D-AE19-62706E023703}">
                    <ahyp:hlinkClr xmlns:ahyp="http://schemas.microsoft.com/office/drawing/2018/hyperlinkcolor" val="tx"/>
                  </a:ext>
                </a:extLst>
              </a:hlinkClick>
            </a:endParaRPr>
          </a:p>
          <a:p>
            <a:pPr algn="just">
              <a:lnSpc>
                <a:spcPts val="3215"/>
              </a:lnSpc>
            </a:pPr>
            <a:r>
              <a:rPr lang="en-US" sz="2679" dirty="0">
                <a:latin typeface="Times New Roman" panose="02020603050405020304" pitchFamily="18" charset="0"/>
                <a:ea typeface="Times New Roman Bold"/>
                <a:cs typeface="Times New Roman" panose="02020603050405020304" pitchFamily="18" charset="0"/>
                <a:sym typeface="Times New Roman Bold"/>
                <a:hlinkClick r:id="rId5" tooltip="https://www.researchgate.net/publication/397706289_Machine_learning_powered_financial_credit_scoring_a_systematic_literature_review">
                  <a:extLst>
                    <a:ext uri="{A12FA001-AC4F-418D-AE19-62706E023703}">
                      <ahyp:hlinkClr xmlns:ahyp="http://schemas.microsoft.com/office/drawing/2018/hyperlinkcolor" val="tx"/>
                    </a:ext>
                  </a:extLst>
                </a:hlinkClick>
              </a:rPr>
              <a:t>[3] Ayari, Helmi &amp; </a:t>
            </a:r>
            <a:r>
              <a:rPr lang="en-US" sz="2679" dirty="0" err="1">
                <a:latin typeface="Times New Roman" panose="02020603050405020304" pitchFamily="18" charset="0"/>
                <a:ea typeface="Times New Roman Bold"/>
                <a:cs typeface="Times New Roman" panose="02020603050405020304" pitchFamily="18" charset="0"/>
                <a:sym typeface="Times New Roman Bold"/>
                <a:hlinkClick r:id="rId5" tooltip="https://www.researchgate.net/publication/397706289_Machine_learning_powered_financial_credit_scoring_a_systematic_literature_review">
                  <a:extLst>
                    <a:ext uri="{A12FA001-AC4F-418D-AE19-62706E023703}">
                      <ahyp:hlinkClr xmlns:ahyp="http://schemas.microsoft.com/office/drawing/2018/hyperlinkcolor" val="tx"/>
                    </a:ext>
                  </a:extLst>
                </a:hlinkClick>
              </a:rPr>
              <a:t>Guetari</a:t>
            </a:r>
            <a:r>
              <a:rPr lang="en-US" sz="2679" dirty="0">
                <a:latin typeface="Times New Roman" panose="02020603050405020304" pitchFamily="18" charset="0"/>
                <a:ea typeface="Times New Roman Bold"/>
                <a:cs typeface="Times New Roman" panose="02020603050405020304" pitchFamily="18" charset="0"/>
                <a:sym typeface="Times New Roman Bold"/>
                <a:hlinkClick r:id="rId5" tooltip="https://www.researchgate.net/publication/397706289_Machine_learning_powered_financial_credit_scoring_a_systematic_literature_review">
                  <a:extLst>
                    <a:ext uri="{A12FA001-AC4F-418D-AE19-62706E023703}">
                      <ahyp:hlinkClr xmlns:ahyp="http://schemas.microsoft.com/office/drawing/2018/hyperlinkcolor" val="tx"/>
                    </a:ext>
                  </a:extLst>
                </a:hlinkClick>
              </a:rPr>
              <a:t>, Ramzi &amp; </a:t>
            </a:r>
            <a:r>
              <a:rPr lang="en-US" sz="2679" dirty="0" err="1">
                <a:latin typeface="Times New Roman" panose="02020603050405020304" pitchFamily="18" charset="0"/>
                <a:ea typeface="Times New Roman Bold"/>
                <a:cs typeface="Times New Roman" panose="02020603050405020304" pitchFamily="18" charset="0"/>
                <a:sym typeface="Times New Roman Bold"/>
                <a:hlinkClick r:id="rId5" tooltip="https://www.researchgate.net/publication/397706289_Machine_learning_powered_financial_credit_scoring_a_systematic_literature_review">
                  <a:extLst>
                    <a:ext uri="{A12FA001-AC4F-418D-AE19-62706E023703}">
                      <ahyp:hlinkClr xmlns:ahyp="http://schemas.microsoft.com/office/drawing/2018/hyperlinkcolor" val="tx"/>
                    </a:ext>
                  </a:extLst>
                </a:hlinkClick>
              </a:rPr>
              <a:t>Kraiem</a:t>
            </a:r>
            <a:r>
              <a:rPr lang="en-US" sz="2679" dirty="0">
                <a:latin typeface="Times New Roman" panose="02020603050405020304" pitchFamily="18" charset="0"/>
                <a:ea typeface="Times New Roman Bold"/>
                <a:cs typeface="Times New Roman" panose="02020603050405020304" pitchFamily="18" charset="0"/>
                <a:sym typeface="Times New Roman Bold"/>
                <a:hlinkClick r:id="rId5" tooltip="https://www.researchgate.net/publication/397706289_Machine_learning_powered_financial_credit_scoring_a_systematic_literature_review">
                  <a:extLst>
                    <a:ext uri="{A12FA001-AC4F-418D-AE19-62706E023703}">
                      <ahyp:hlinkClr xmlns:ahyp="http://schemas.microsoft.com/office/drawing/2018/hyperlinkcolor" val="tx"/>
                    </a:ext>
                  </a:extLst>
                </a:hlinkClick>
              </a:rPr>
              <a:t>, Naoufel. (2025). Machine learning powered financial credit scoring: a systematic literature review. Artificial Intelligence Review. 59. 10.1007/s10462-025-11416-2. </a:t>
            </a:r>
          </a:p>
          <a:p>
            <a:pPr algn="just">
              <a:lnSpc>
                <a:spcPts val="3215"/>
              </a:lnSpc>
            </a:pPr>
            <a:endParaRPr lang="en-US" sz="2679" dirty="0">
              <a:latin typeface="Times New Roman" panose="02020603050405020304" pitchFamily="18" charset="0"/>
              <a:ea typeface="Times New Roman Bold"/>
              <a:cs typeface="Times New Roman" panose="02020603050405020304" pitchFamily="18" charset="0"/>
              <a:sym typeface="Times New Roman Bold"/>
              <a:hlinkClick r:id="rId5" tooltip="https://www.researchgate.net/publication/397706289_Machine_learning_powered_financial_credit_scoring_a_systematic_literature_review">
                <a:extLst>
                  <a:ext uri="{A12FA001-AC4F-418D-AE19-62706E023703}">
                    <ahyp:hlinkClr xmlns:ahyp="http://schemas.microsoft.com/office/drawing/2018/hyperlinkcolor" val="tx"/>
                  </a:ext>
                </a:extLst>
              </a:hlinkClick>
            </a:endParaRPr>
          </a:p>
          <a:p>
            <a:pPr algn="just">
              <a:lnSpc>
                <a:spcPts val="3215"/>
              </a:lnSpc>
            </a:pPr>
            <a:r>
              <a:rPr lang="en-US" sz="2679" dirty="0">
                <a:latin typeface="Times New Roman" panose="02020603050405020304" pitchFamily="18" charset="0"/>
                <a:ea typeface="Times New Roman Bold"/>
                <a:cs typeface="Times New Roman" panose="02020603050405020304" pitchFamily="18" charset="0"/>
                <a:sym typeface="Times New Roman Bold"/>
                <a:hlinkClick r:id="rId6" tooltip="https://www.researchgate.net/publication/393147041_Machine_learning_for_credit_scoring_and_loan_default_prediction_using_behavioral_and_transactional_financial_data">
                  <a:extLst>
                    <a:ext uri="{A12FA001-AC4F-418D-AE19-62706E023703}">
                      <ahyp:hlinkClr xmlns:ahyp="http://schemas.microsoft.com/office/drawing/2018/hyperlinkcolor" val="tx"/>
                    </a:ext>
                  </a:extLst>
                </a:hlinkClick>
              </a:rPr>
              <a:t>[4] Abi, Roland. (2025). Machine learning for credit scoring and loan default prediction using behavioral and transactional financial data. World Journal of Advanced Research and Reviews. 26. 884-904. 10.30574/wjarr.2025.26.3.2266. </a:t>
            </a:r>
          </a:p>
          <a:p>
            <a:pPr algn="just">
              <a:lnSpc>
                <a:spcPts val="3215"/>
              </a:lnSpc>
            </a:pPr>
            <a:endParaRPr lang="en-US" sz="2679" dirty="0">
              <a:latin typeface="Times New Roman" panose="02020603050405020304" pitchFamily="18" charset="0"/>
              <a:ea typeface="Times New Roman Bold"/>
              <a:cs typeface="Times New Roman" panose="02020603050405020304" pitchFamily="18" charset="0"/>
              <a:sym typeface="Times New Roman Bold"/>
              <a:hlinkClick r:id="rId6" tooltip="https://www.researchgate.net/publication/393147041_Machine_learning_for_credit_scoring_and_loan_default_prediction_using_behavioral_and_transactional_financial_data">
                <a:extLst>
                  <a:ext uri="{A12FA001-AC4F-418D-AE19-62706E023703}">
                    <ahyp:hlinkClr xmlns:ahyp="http://schemas.microsoft.com/office/drawing/2018/hyperlinkcolor" val="tx"/>
                  </a:ext>
                </a:extLst>
              </a:hlinkClick>
            </a:endParaRPr>
          </a:p>
          <a:p>
            <a:pPr algn="just">
              <a:lnSpc>
                <a:spcPts val="3215"/>
              </a:lnSpc>
            </a:pPr>
            <a:r>
              <a:rPr lang="en-US" sz="2679" dirty="0">
                <a:latin typeface="Times New Roman" panose="02020603050405020304" pitchFamily="18" charset="0"/>
                <a:ea typeface="Times New Roman Bold"/>
                <a:cs typeface="Times New Roman" panose="02020603050405020304" pitchFamily="18" charset="0"/>
                <a:sym typeface="Times New Roman Bold"/>
                <a:hlinkClick r:id="rId7" tooltip="https://www.researchgate.net/publication/393739409_Data-Driven_Loan_Default_Prediction_A_Machine_Learning_Approach_for_Enhancing_Business_Process_Management">
                  <a:extLst>
                    <a:ext uri="{A12FA001-AC4F-418D-AE19-62706E023703}">
                      <ahyp:hlinkClr xmlns:ahyp="http://schemas.microsoft.com/office/drawing/2018/hyperlinkcolor" val="tx"/>
                    </a:ext>
                  </a:extLst>
                </a:hlinkClick>
              </a:rPr>
              <a:t>[4] Zhang, Xinyu &amp; Zhang, </a:t>
            </a:r>
            <a:r>
              <a:rPr lang="en-US" sz="2679" dirty="0" err="1">
                <a:latin typeface="Times New Roman" panose="02020603050405020304" pitchFamily="18" charset="0"/>
                <a:ea typeface="Times New Roman Bold"/>
                <a:cs typeface="Times New Roman" panose="02020603050405020304" pitchFamily="18" charset="0"/>
                <a:sym typeface="Times New Roman Bold"/>
                <a:hlinkClick r:id="rId7" tooltip="https://www.researchgate.net/publication/393739409_Data-Driven_Loan_Default_Prediction_A_Machine_Learning_Approach_for_Enhancing_Business_Process_Management">
                  <a:extLst>
                    <a:ext uri="{A12FA001-AC4F-418D-AE19-62706E023703}">
                      <ahyp:hlinkClr xmlns:ahyp="http://schemas.microsoft.com/office/drawing/2018/hyperlinkcolor" val="tx"/>
                    </a:ext>
                  </a:extLst>
                </a:hlinkClick>
              </a:rPr>
              <a:t>Tianhui</a:t>
            </a:r>
            <a:r>
              <a:rPr lang="en-US" sz="2679" dirty="0">
                <a:latin typeface="Times New Roman" panose="02020603050405020304" pitchFamily="18" charset="0"/>
                <a:ea typeface="Times New Roman Bold"/>
                <a:cs typeface="Times New Roman" panose="02020603050405020304" pitchFamily="18" charset="0"/>
                <a:sym typeface="Times New Roman Bold"/>
                <a:hlinkClick r:id="rId7" tooltip="https://www.researchgate.net/publication/393739409_Data-Driven_Loan_Default_Prediction_A_Machine_Learning_Approach_for_Enhancing_Business_Process_Management">
                  <a:extLst>
                    <a:ext uri="{A12FA001-AC4F-418D-AE19-62706E023703}">
                      <ahyp:hlinkClr xmlns:ahyp="http://schemas.microsoft.com/office/drawing/2018/hyperlinkcolor" val="tx"/>
                    </a:ext>
                  </a:extLst>
                </a:hlinkClick>
              </a:rPr>
              <a:t> &amp; Hou, </a:t>
            </a:r>
            <a:r>
              <a:rPr lang="en-US" sz="2679" dirty="0" err="1">
                <a:latin typeface="Times New Roman" panose="02020603050405020304" pitchFamily="18" charset="0"/>
                <a:ea typeface="Times New Roman Bold"/>
                <a:cs typeface="Times New Roman" panose="02020603050405020304" pitchFamily="18" charset="0"/>
                <a:sym typeface="Times New Roman Bold"/>
                <a:hlinkClick r:id="rId7" tooltip="https://www.researchgate.net/publication/393739409_Data-Driven_Loan_Default_Prediction_A_Machine_Learning_Approach_for_Enhancing_Business_Process_Management">
                  <a:extLst>
                    <a:ext uri="{A12FA001-AC4F-418D-AE19-62706E023703}">
                      <ahyp:hlinkClr xmlns:ahyp="http://schemas.microsoft.com/office/drawing/2018/hyperlinkcolor" val="tx"/>
                    </a:ext>
                  </a:extLst>
                </a:hlinkClick>
              </a:rPr>
              <a:t>Lingmin</a:t>
            </a:r>
            <a:r>
              <a:rPr lang="en-US" sz="2679" dirty="0">
                <a:latin typeface="Times New Roman" panose="02020603050405020304" pitchFamily="18" charset="0"/>
                <a:ea typeface="Times New Roman Bold"/>
                <a:cs typeface="Times New Roman" panose="02020603050405020304" pitchFamily="18" charset="0"/>
                <a:sym typeface="Times New Roman Bold"/>
                <a:hlinkClick r:id="rId7" tooltip="https://www.researchgate.net/publication/393739409_Data-Driven_Loan_Default_Prediction_A_Machine_Learning_Approach_for_Enhancing_Business_Process_Management">
                  <a:extLst>
                    <a:ext uri="{A12FA001-AC4F-418D-AE19-62706E023703}">
                      <ahyp:hlinkClr xmlns:ahyp="http://schemas.microsoft.com/office/drawing/2018/hyperlinkcolor" val="tx"/>
                    </a:ext>
                  </a:extLst>
                </a:hlinkClick>
              </a:rPr>
              <a:t> &amp; Liu, </a:t>
            </a:r>
            <a:r>
              <a:rPr lang="en-US" sz="2679" dirty="0" err="1">
                <a:latin typeface="Times New Roman" panose="02020603050405020304" pitchFamily="18" charset="0"/>
                <a:ea typeface="Times New Roman Bold"/>
                <a:cs typeface="Times New Roman" panose="02020603050405020304" pitchFamily="18" charset="0"/>
                <a:sym typeface="Times New Roman Bold"/>
                <a:hlinkClick r:id="rId7" tooltip="https://www.researchgate.net/publication/393739409_Data-Driven_Loan_Default_Prediction_A_Machine_Learning_Approach_for_Enhancing_Business_Process_Management">
                  <a:extLst>
                    <a:ext uri="{A12FA001-AC4F-418D-AE19-62706E023703}">
                      <ahyp:hlinkClr xmlns:ahyp="http://schemas.microsoft.com/office/drawing/2018/hyperlinkcolor" val="tx"/>
                    </a:ext>
                  </a:extLst>
                </a:hlinkClick>
              </a:rPr>
              <a:t>Xianchen</a:t>
            </a:r>
            <a:r>
              <a:rPr lang="en-US" sz="2679" dirty="0">
                <a:latin typeface="Times New Roman" panose="02020603050405020304" pitchFamily="18" charset="0"/>
                <a:ea typeface="Times New Roman Bold"/>
                <a:cs typeface="Times New Roman" panose="02020603050405020304" pitchFamily="18" charset="0"/>
                <a:sym typeface="Times New Roman Bold"/>
                <a:hlinkClick r:id="rId7" tooltip="https://www.researchgate.net/publication/393739409_Data-Driven_Loan_Default_Prediction_A_Machine_Learning_Approach_for_Enhancing_Business_Process_Management">
                  <a:extLst>
                    <a:ext uri="{A12FA001-AC4F-418D-AE19-62706E023703}">
                      <ahyp:hlinkClr xmlns:ahyp="http://schemas.microsoft.com/office/drawing/2018/hyperlinkcolor" val="tx"/>
                    </a:ext>
                  </a:extLst>
                </a:hlinkClick>
              </a:rPr>
              <a:t> &amp; Guo, Zhen &amp; Tian, </a:t>
            </a:r>
            <a:r>
              <a:rPr lang="en-US" sz="2679" dirty="0" err="1">
                <a:latin typeface="Times New Roman" panose="02020603050405020304" pitchFamily="18" charset="0"/>
                <a:ea typeface="Times New Roman Bold"/>
                <a:cs typeface="Times New Roman" panose="02020603050405020304" pitchFamily="18" charset="0"/>
                <a:sym typeface="Times New Roman Bold"/>
                <a:hlinkClick r:id="rId7" tooltip="https://www.researchgate.net/publication/393739409_Data-Driven_Loan_Default_Prediction_A_Machine_Learning_Approach_for_Enhancing_Business_Process_Management">
                  <a:extLst>
                    <a:ext uri="{A12FA001-AC4F-418D-AE19-62706E023703}">
                      <ahyp:hlinkClr xmlns:ahyp="http://schemas.microsoft.com/office/drawing/2018/hyperlinkcolor" val="tx"/>
                    </a:ext>
                  </a:extLst>
                </a:hlinkClick>
              </a:rPr>
              <a:t>Yuanhao</a:t>
            </a:r>
            <a:r>
              <a:rPr lang="en-US" sz="2679" dirty="0">
                <a:latin typeface="Times New Roman" panose="02020603050405020304" pitchFamily="18" charset="0"/>
                <a:ea typeface="Times New Roman Bold"/>
                <a:cs typeface="Times New Roman" panose="02020603050405020304" pitchFamily="18" charset="0"/>
                <a:sym typeface="Times New Roman Bold"/>
                <a:hlinkClick r:id="rId7" tooltip="https://www.researchgate.net/publication/393739409_Data-Driven_Loan_Default_Prediction_A_Machine_Learning_Approach_for_Enhancing_Business_Process_Management">
                  <a:extLst>
                    <a:ext uri="{A12FA001-AC4F-418D-AE19-62706E023703}">
                      <ahyp:hlinkClr xmlns:ahyp="http://schemas.microsoft.com/office/drawing/2018/hyperlinkcolor" val="tx"/>
                    </a:ext>
                  </a:extLst>
                </a:hlinkClick>
              </a:rPr>
              <a:t> &amp; Liu, Yang. (2025). Data-Driven Loan Default Prediction: A Machine Learning Approach for Enhancing Business Process Management. Systems. 13. 581. 10.3390/systems13070581.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108314"/>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a:ln w="12700">
              <a:solidFill>
                <a:srgbClr val="000000"/>
              </a:solidFill>
            </a:ln>
          </p:spPr>
          <p:txBody>
            <a:bodyPr/>
            <a:lstStyle/>
            <a:p>
              <a:endParaRPr lang="en-US"/>
            </a:p>
          </p:txBody>
        </p:sp>
      </p:grpSp>
      <p:grpSp>
        <p:nvGrpSpPr>
          <p:cNvPr id="4" name="Group 4"/>
          <p:cNvGrpSpPr/>
          <p:nvPr/>
        </p:nvGrpSpPr>
        <p:grpSpPr>
          <a:xfrm>
            <a:off x="16077133" y="217541"/>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US"/>
            </a:p>
          </p:txBody>
        </p:sp>
      </p:grpSp>
      <p:sp>
        <p:nvSpPr>
          <p:cNvPr id="6" name="TextBox 6"/>
          <p:cNvSpPr txBox="1"/>
          <p:nvPr/>
        </p:nvSpPr>
        <p:spPr>
          <a:xfrm>
            <a:off x="2895600" y="3619500"/>
            <a:ext cx="11760340" cy="2275952"/>
          </a:xfrm>
          <a:prstGeom prst="rect">
            <a:avLst/>
          </a:prstGeom>
        </p:spPr>
        <p:txBody>
          <a:bodyPr wrap="square" lIns="0" tIns="0" rIns="0" bIns="0" rtlCol="0" anchor="t">
            <a:spAutoFit/>
          </a:bodyPr>
          <a:lstStyle/>
          <a:p>
            <a:pPr algn="ctr">
              <a:lnSpc>
                <a:spcPts val="17543"/>
              </a:lnSpc>
              <a:spcBef>
                <a:spcPct val="0"/>
              </a:spcBef>
            </a:pPr>
            <a:r>
              <a:rPr lang="en-US" sz="14619" b="1" dirty="0">
                <a:solidFill>
                  <a:srgbClr val="000000"/>
                </a:solidFill>
                <a:latin typeface="Times New Roman Bold"/>
                <a:ea typeface="Times New Roman Bold"/>
                <a:cs typeface="Times New Roman Bold"/>
                <a:sym typeface="Times New Rom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1141</Words>
  <Application>Microsoft Office PowerPoint</Application>
  <PresentationFormat>Custom</PresentationFormat>
  <Paragraphs>107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Times New Roman</vt:lpstr>
      <vt:lpstr>Calibri</vt:lpstr>
      <vt:lpstr>Times New Roman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Corporate Modern Problems and Solutions Comparison Chart Graphic</dc:title>
  <cp:lastModifiedBy>Sanchit Panwar</cp:lastModifiedBy>
  <cp:revision>6</cp:revision>
  <dcterms:created xsi:type="dcterms:W3CDTF">2006-08-16T00:00:00Z</dcterms:created>
  <dcterms:modified xsi:type="dcterms:W3CDTF">2026-02-01T15:21:48Z</dcterms:modified>
  <dc:identifier>DAGhKBcraPw</dc:identifier>
</cp:coreProperties>
</file>