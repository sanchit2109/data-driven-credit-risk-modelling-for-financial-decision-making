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Montserrat Semi-Bold" charset="1" panose="00000700000000000000"/>
      <p:regular r:id="rId20"/>
    </p:embeddedFont>
    <p:embeddedFont>
      <p:font typeface="Times New Roman MT" charset="1" panose="02030502070405020303"/>
      <p:regular r:id="rId21"/>
    </p:embeddedFont>
    <p:embeddedFont>
      <p:font typeface="Times New Roman MT Semi-Bold" charset="1" panose="02030702070405020303"/>
      <p:regular r:id="rId22"/>
    </p:embeddedFont>
    <p:embeddedFont>
      <p:font typeface="Montserrat Bold" charset="1" panose="00000800000000000000"/>
      <p:regular r:id="rId23"/>
    </p:embeddedFont>
    <p:embeddedFont>
      <p:font typeface="Times New Roman MT Bold" charset="1" panose="02030802070405020303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6844" y="108318"/>
            <a:ext cx="18040483" cy="10070373"/>
            <a:chOff x="0" y="0"/>
            <a:chExt cx="24053978" cy="134271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053927" cy="13427202"/>
            </a:xfrm>
            <a:custGeom>
              <a:avLst/>
              <a:gdLst/>
              <a:ahLst/>
              <a:cxnLst/>
              <a:rect r="r" b="b" t="t" l="l"/>
              <a:pathLst>
                <a:path h="13427202" w="24053927">
                  <a:moveTo>
                    <a:pt x="28575" y="0"/>
                  </a:moveTo>
                  <a:lnTo>
                    <a:pt x="24025352" y="0"/>
                  </a:lnTo>
                  <a:cubicBezTo>
                    <a:pt x="24041100" y="0"/>
                    <a:pt x="24053927" y="12827"/>
                    <a:pt x="24053927" y="28575"/>
                  </a:cubicBezTo>
                  <a:lnTo>
                    <a:pt x="24053927" y="13398627"/>
                  </a:lnTo>
                  <a:cubicBezTo>
                    <a:pt x="24053927" y="13414375"/>
                    <a:pt x="24041100" y="13427202"/>
                    <a:pt x="24025352" y="13427202"/>
                  </a:cubicBezTo>
                  <a:lnTo>
                    <a:pt x="28575" y="13427202"/>
                  </a:lnTo>
                  <a:cubicBezTo>
                    <a:pt x="12827" y="13427202"/>
                    <a:pt x="0" y="13414375"/>
                    <a:pt x="0" y="13398627"/>
                  </a:cubicBezTo>
                  <a:lnTo>
                    <a:pt x="0" y="28575"/>
                  </a:lnTo>
                  <a:cubicBezTo>
                    <a:pt x="0" y="12827"/>
                    <a:pt x="12827" y="0"/>
                    <a:pt x="28575" y="0"/>
                  </a:cubicBezTo>
                  <a:moveTo>
                    <a:pt x="28575" y="57150"/>
                  </a:moveTo>
                  <a:lnTo>
                    <a:pt x="28575" y="28575"/>
                  </a:lnTo>
                  <a:lnTo>
                    <a:pt x="57150" y="28575"/>
                  </a:lnTo>
                  <a:lnTo>
                    <a:pt x="57150" y="13398627"/>
                  </a:lnTo>
                  <a:lnTo>
                    <a:pt x="28575" y="13398627"/>
                  </a:lnTo>
                  <a:lnTo>
                    <a:pt x="28575" y="13370052"/>
                  </a:lnTo>
                  <a:lnTo>
                    <a:pt x="24025352" y="13370052"/>
                  </a:lnTo>
                  <a:lnTo>
                    <a:pt x="24025352" y="13398627"/>
                  </a:lnTo>
                  <a:lnTo>
                    <a:pt x="23996777" y="13398627"/>
                  </a:lnTo>
                  <a:lnTo>
                    <a:pt x="23996777" y="28575"/>
                  </a:lnTo>
                  <a:lnTo>
                    <a:pt x="24025352" y="28575"/>
                  </a:lnTo>
                  <a:lnTo>
                    <a:pt x="24025352" y="57150"/>
                  </a:lnTo>
                  <a:lnTo>
                    <a:pt x="28575" y="57150"/>
                  </a:lnTo>
                  <a:close/>
                </a:path>
              </a:pathLst>
            </a:custGeom>
            <a:solidFill>
              <a:srgbClr val="46B0F9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6077133" y="191729"/>
            <a:ext cx="2004384" cy="811159"/>
            <a:chOff x="0" y="0"/>
            <a:chExt cx="2672512" cy="1081545"/>
          </a:xfrm>
        </p:grpSpPr>
        <p:sp>
          <p:nvSpPr>
            <p:cNvPr name="Freeform 5" id="5" descr="A picture containing text, clipart  Description automatically generated"/>
            <p:cNvSpPr/>
            <p:nvPr/>
          </p:nvSpPr>
          <p:spPr>
            <a:xfrm flipH="false" flipV="false" rot="0">
              <a:off x="0" y="0"/>
              <a:ext cx="2672461" cy="1081532"/>
            </a:xfrm>
            <a:custGeom>
              <a:avLst/>
              <a:gdLst/>
              <a:ahLst/>
              <a:cxnLst/>
              <a:rect r="r" b="b" t="t" l="l"/>
              <a:pathLst>
                <a:path h="1081532" w="2672461">
                  <a:moveTo>
                    <a:pt x="0" y="0"/>
                  </a:moveTo>
                  <a:lnTo>
                    <a:pt x="2672461" y="0"/>
                  </a:lnTo>
                  <a:lnTo>
                    <a:pt x="2672461" y="1081532"/>
                  </a:lnTo>
                  <a:lnTo>
                    <a:pt x="0" y="10815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4695" r="-8057" b="-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02000" y="225704"/>
            <a:ext cx="2071868" cy="1024357"/>
            <a:chOff x="0" y="0"/>
            <a:chExt cx="2762491" cy="136580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62504" cy="1365758"/>
            </a:xfrm>
            <a:custGeom>
              <a:avLst/>
              <a:gdLst/>
              <a:ahLst/>
              <a:cxnLst/>
              <a:rect r="r" b="b" t="t" l="l"/>
              <a:pathLst>
                <a:path h="1365758" w="2762504">
                  <a:moveTo>
                    <a:pt x="0" y="0"/>
                  </a:moveTo>
                  <a:lnTo>
                    <a:pt x="2762504" y="0"/>
                  </a:lnTo>
                  <a:lnTo>
                    <a:pt x="2762504" y="1365758"/>
                  </a:lnTo>
                  <a:lnTo>
                    <a:pt x="0" y="1365758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2935789" y="215532"/>
            <a:ext cx="5138079" cy="1659433"/>
            <a:chOff x="0" y="0"/>
            <a:chExt cx="8867064" cy="2863774"/>
          </a:xfrm>
        </p:grpSpPr>
        <p:sp>
          <p:nvSpPr>
            <p:cNvPr name="Freeform 9" id="9" descr="A picture containing text, clipart  Description automatically generated"/>
            <p:cNvSpPr/>
            <p:nvPr/>
          </p:nvSpPr>
          <p:spPr>
            <a:xfrm flipH="false" flipV="false" rot="0">
              <a:off x="0" y="0"/>
              <a:ext cx="8867013" cy="2863723"/>
            </a:xfrm>
            <a:custGeom>
              <a:avLst/>
              <a:gdLst/>
              <a:ahLst/>
              <a:cxnLst/>
              <a:rect r="r" b="b" t="t" l="l"/>
              <a:pathLst>
                <a:path h="2863723" w="8867013">
                  <a:moveTo>
                    <a:pt x="0" y="0"/>
                  </a:moveTo>
                  <a:lnTo>
                    <a:pt x="8867013" y="0"/>
                  </a:lnTo>
                  <a:lnTo>
                    <a:pt x="8867013" y="2863723"/>
                  </a:lnTo>
                  <a:lnTo>
                    <a:pt x="0" y="2863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6503" r="0" b="-16504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1910207" y="235469"/>
            <a:ext cx="6093982" cy="2208143"/>
          </a:xfrm>
          <a:custGeom>
            <a:avLst/>
            <a:gdLst/>
            <a:ahLst/>
            <a:cxnLst/>
            <a:rect r="r" b="b" t="t" l="l"/>
            <a:pathLst>
              <a:path h="2208143" w="6093982">
                <a:moveTo>
                  <a:pt x="0" y="0"/>
                </a:moveTo>
                <a:lnTo>
                  <a:pt x="6093982" y="0"/>
                </a:lnTo>
                <a:lnTo>
                  <a:pt x="6093982" y="2208144"/>
                </a:lnTo>
                <a:lnTo>
                  <a:pt x="0" y="22081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409789" y="8403045"/>
            <a:ext cx="2618330" cy="504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99"/>
              </a:lnSpc>
            </a:pPr>
            <a:r>
              <a:rPr lang="en-US" b="true" sz="1851" spc="-131">
                <a:solidFill>
                  <a:srgbClr val="F4F4F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WHERE INNOVATION MEETS OPPORTUNITY.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6548815"/>
            <a:ext cx="7003068" cy="2343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7"/>
              </a:lnSpc>
            </a:pPr>
            <a:r>
              <a:rPr lang="en-US" sz="3451" spc="-245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Presented By:</a:t>
            </a:r>
          </a:p>
          <a:p>
            <a:pPr algn="l">
              <a:lnSpc>
                <a:spcPts val="3727"/>
              </a:lnSpc>
            </a:pPr>
            <a:r>
              <a:rPr lang="en-US" sz="3451" spc="-245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Aayush Kumar (R2142230141)</a:t>
            </a:r>
          </a:p>
          <a:p>
            <a:pPr algn="l">
              <a:lnSpc>
                <a:spcPts val="3727"/>
              </a:lnSpc>
            </a:pPr>
            <a:r>
              <a:rPr lang="en-US" sz="3451" spc="-245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Sanchit Panwar (R2142230336)</a:t>
            </a:r>
          </a:p>
          <a:p>
            <a:pPr algn="l">
              <a:lnSpc>
                <a:spcPts val="3727"/>
              </a:lnSpc>
            </a:pPr>
            <a:r>
              <a:rPr lang="en-US" sz="3451" spc="-245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Saksham Raj (R2142230198)</a:t>
            </a:r>
          </a:p>
          <a:p>
            <a:pPr algn="ctr">
              <a:lnSpc>
                <a:spcPts val="3079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0904079" y="6501190"/>
            <a:ext cx="5541057" cy="1228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87"/>
              </a:lnSpc>
            </a:pPr>
            <a:r>
              <a:rPr lang="en-US" sz="3699" spc="-23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Guided By:</a:t>
            </a:r>
          </a:p>
          <a:p>
            <a:pPr algn="just">
              <a:lnSpc>
                <a:spcPts val="4587"/>
              </a:lnSpc>
            </a:pPr>
            <a:r>
              <a:rPr lang="en-US" sz="3699" spc="-23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Dr. Surbhi Saraswat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971550"/>
            <a:ext cx="7384157" cy="1132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15"/>
              </a:lnSpc>
              <a:spcBef>
                <a:spcPct val="0"/>
              </a:spcBef>
            </a:pPr>
            <a:r>
              <a:rPr lang="en-US" b="true" sz="7051" spc="-500">
                <a:solidFill>
                  <a:srgbClr val="000000"/>
                </a:solidFill>
                <a:latin typeface="Times New Roman MT Semi-Bold"/>
                <a:ea typeface="Times New Roman MT Semi-Bold"/>
                <a:cs typeface="Times New Roman MT Semi-Bold"/>
                <a:sym typeface="Times New Roman MT Semi-Bold"/>
              </a:rPr>
              <a:t>MINOR PROJECT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3002190"/>
            <a:ext cx="12645908" cy="1225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3"/>
              </a:lnSpc>
              <a:spcBef>
                <a:spcPct val="0"/>
              </a:spcBef>
            </a:pPr>
            <a:r>
              <a:rPr lang="en-US" sz="4151" spc="-29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Title: Explainable Probabilistic Modeling for Credit Default Prediction Using Heterogeneous Financial Features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6844" y="108318"/>
            <a:ext cx="18040483" cy="10070373"/>
            <a:chOff x="0" y="0"/>
            <a:chExt cx="24053978" cy="134271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053927" cy="13427202"/>
            </a:xfrm>
            <a:custGeom>
              <a:avLst/>
              <a:gdLst/>
              <a:ahLst/>
              <a:cxnLst/>
              <a:rect r="r" b="b" t="t" l="l"/>
              <a:pathLst>
                <a:path h="13427202" w="24053927">
                  <a:moveTo>
                    <a:pt x="28575" y="0"/>
                  </a:moveTo>
                  <a:lnTo>
                    <a:pt x="24025352" y="0"/>
                  </a:lnTo>
                  <a:cubicBezTo>
                    <a:pt x="24041100" y="0"/>
                    <a:pt x="24053927" y="12827"/>
                    <a:pt x="24053927" y="28575"/>
                  </a:cubicBezTo>
                  <a:lnTo>
                    <a:pt x="24053927" y="13398627"/>
                  </a:lnTo>
                  <a:cubicBezTo>
                    <a:pt x="24053927" y="13414375"/>
                    <a:pt x="24041100" y="13427202"/>
                    <a:pt x="24025352" y="13427202"/>
                  </a:cubicBezTo>
                  <a:lnTo>
                    <a:pt x="28575" y="13427202"/>
                  </a:lnTo>
                  <a:cubicBezTo>
                    <a:pt x="12827" y="13427202"/>
                    <a:pt x="0" y="13414375"/>
                    <a:pt x="0" y="13398627"/>
                  </a:cubicBezTo>
                  <a:lnTo>
                    <a:pt x="0" y="28575"/>
                  </a:lnTo>
                  <a:cubicBezTo>
                    <a:pt x="0" y="12827"/>
                    <a:pt x="12827" y="0"/>
                    <a:pt x="28575" y="0"/>
                  </a:cubicBezTo>
                  <a:moveTo>
                    <a:pt x="28575" y="57150"/>
                  </a:moveTo>
                  <a:lnTo>
                    <a:pt x="28575" y="28575"/>
                  </a:lnTo>
                  <a:lnTo>
                    <a:pt x="57150" y="28575"/>
                  </a:lnTo>
                  <a:lnTo>
                    <a:pt x="57150" y="13398627"/>
                  </a:lnTo>
                  <a:lnTo>
                    <a:pt x="28575" y="13398627"/>
                  </a:lnTo>
                  <a:lnTo>
                    <a:pt x="28575" y="13370052"/>
                  </a:lnTo>
                  <a:lnTo>
                    <a:pt x="24025352" y="13370052"/>
                  </a:lnTo>
                  <a:lnTo>
                    <a:pt x="24025352" y="13398627"/>
                  </a:lnTo>
                  <a:lnTo>
                    <a:pt x="23996777" y="13398627"/>
                  </a:lnTo>
                  <a:lnTo>
                    <a:pt x="23996777" y="28575"/>
                  </a:lnTo>
                  <a:lnTo>
                    <a:pt x="24025352" y="28575"/>
                  </a:lnTo>
                  <a:lnTo>
                    <a:pt x="24025352" y="57150"/>
                  </a:lnTo>
                  <a:lnTo>
                    <a:pt x="28575" y="57150"/>
                  </a:lnTo>
                  <a:close/>
                </a:path>
              </a:pathLst>
            </a:custGeom>
            <a:solidFill>
              <a:srgbClr val="46B0F9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6077133" y="191729"/>
            <a:ext cx="2004384" cy="811159"/>
            <a:chOff x="0" y="0"/>
            <a:chExt cx="2672512" cy="1081545"/>
          </a:xfrm>
        </p:grpSpPr>
        <p:sp>
          <p:nvSpPr>
            <p:cNvPr name="Freeform 5" id="5" descr="A picture containing text, clipart  Description automatically generated"/>
            <p:cNvSpPr/>
            <p:nvPr/>
          </p:nvSpPr>
          <p:spPr>
            <a:xfrm flipH="false" flipV="false" rot="0">
              <a:off x="0" y="0"/>
              <a:ext cx="2672461" cy="1081532"/>
            </a:xfrm>
            <a:custGeom>
              <a:avLst/>
              <a:gdLst/>
              <a:ahLst/>
              <a:cxnLst/>
              <a:rect r="r" b="b" t="t" l="l"/>
              <a:pathLst>
                <a:path h="1081532" w="2672461">
                  <a:moveTo>
                    <a:pt x="0" y="0"/>
                  </a:moveTo>
                  <a:lnTo>
                    <a:pt x="2672461" y="0"/>
                  </a:lnTo>
                  <a:lnTo>
                    <a:pt x="2672461" y="1081532"/>
                  </a:lnTo>
                  <a:lnTo>
                    <a:pt x="0" y="10815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4695" r="-8057" b="-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4911384" y="6647469"/>
            <a:ext cx="2728557" cy="2387487"/>
            <a:chOff x="0" y="0"/>
            <a:chExt cx="812800" cy="711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1F1F1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028700" y="3857545"/>
            <a:ext cx="7100167" cy="5579847"/>
          </a:xfrm>
          <a:custGeom>
            <a:avLst/>
            <a:gdLst/>
            <a:ahLst/>
            <a:cxnLst/>
            <a:rect r="r" b="b" t="t" l="l"/>
            <a:pathLst>
              <a:path h="5579847" w="7100167">
                <a:moveTo>
                  <a:pt x="0" y="0"/>
                </a:moveTo>
                <a:lnTo>
                  <a:pt x="7100167" y="0"/>
                </a:lnTo>
                <a:lnTo>
                  <a:pt x="7100167" y="5579848"/>
                </a:lnTo>
                <a:lnTo>
                  <a:pt x="0" y="55798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883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2588650"/>
            <a:ext cx="5103559" cy="1042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679"/>
              </a:lnSpc>
            </a:pPr>
            <a:r>
              <a:rPr lang="en-US" b="true" sz="8532" spc="-494">
                <a:solidFill>
                  <a:srgbClr val="101B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Abstract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76218" y="2245750"/>
            <a:ext cx="8083082" cy="8000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38300" indent="-419150" lvl="1">
              <a:lnSpc>
                <a:spcPts val="4814"/>
              </a:lnSpc>
              <a:buFont typeface="Arial"/>
              <a:buChar char="•"/>
            </a:pPr>
            <a:r>
              <a:rPr lang="en-US" sz="3882" spc="-24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Builds an explainable ML model to predict Probability of Default (PD)</a:t>
            </a:r>
          </a:p>
          <a:p>
            <a:pPr algn="just" marL="838300" indent="-419150" lvl="1">
              <a:lnSpc>
                <a:spcPts val="4814"/>
              </a:lnSpc>
              <a:buFont typeface="Arial"/>
              <a:buChar char="•"/>
            </a:pPr>
            <a:r>
              <a:rPr lang="en-US" sz="3882" spc="-24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Uses financial and behavioral features of loan applicants</a:t>
            </a:r>
          </a:p>
          <a:p>
            <a:pPr algn="just" marL="838300" indent="-419150" lvl="1">
              <a:lnSpc>
                <a:spcPts val="4814"/>
              </a:lnSpc>
              <a:buFont typeface="Arial"/>
              <a:buChar char="•"/>
            </a:pPr>
            <a:r>
              <a:rPr lang="en-US" sz="3882" spc="-24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Produces calibrated probability predictions</a:t>
            </a:r>
          </a:p>
          <a:p>
            <a:pPr algn="just" marL="838300" indent="-419150" lvl="1">
              <a:lnSpc>
                <a:spcPts val="4814"/>
              </a:lnSpc>
              <a:buFont typeface="Arial"/>
              <a:buChar char="•"/>
            </a:pPr>
            <a:r>
              <a:rPr lang="en-US" sz="3882" spc="-24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Evaluates performance using discrimination and calibration metrics</a:t>
            </a:r>
          </a:p>
          <a:p>
            <a:pPr algn="just" marL="838300" indent="-419150" lvl="1">
              <a:lnSpc>
                <a:spcPts val="4814"/>
              </a:lnSpc>
              <a:buFont typeface="Arial"/>
              <a:buChar char="•"/>
            </a:pPr>
            <a:r>
              <a:rPr lang="en-US" sz="3882" spc="-24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Generates a risk score to classify applicants into credit risk categories</a:t>
            </a:r>
          </a:p>
          <a:p>
            <a:pPr algn="just" marL="838300" indent="-419150" lvl="1">
              <a:lnSpc>
                <a:spcPts val="4814"/>
              </a:lnSpc>
              <a:buFont typeface="Arial"/>
              <a:buChar char="•"/>
            </a:pPr>
            <a:r>
              <a:rPr lang="en-US" sz="3882" spc="-24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Applies Explainable AI to ensure transparent lending decisions</a:t>
            </a:r>
          </a:p>
          <a:p>
            <a:pPr algn="just">
              <a:lnSpc>
                <a:spcPts val="4814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077133" y="191729"/>
            <a:ext cx="2004384" cy="811159"/>
            <a:chOff x="0" y="0"/>
            <a:chExt cx="2672512" cy="1081545"/>
          </a:xfrm>
        </p:grpSpPr>
        <p:sp>
          <p:nvSpPr>
            <p:cNvPr name="Freeform 3" id="3" descr="A picture containing text, clipart  Description automatically generated"/>
            <p:cNvSpPr/>
            <p:nvPr/>
          </p:nvSpPr>
          <p:spPr>
            <a:xfrm flipH="false" flipV="false" rot="0">
              <a:off x="0" y="0"/>
              <a:ext cx="2672461" cy="1081532"/>
            </a:xfrm>
            <a:custGeom>
              <a:avLst/>
              <a:gdLst/>
              <a:ahLst/>
              <a:cxnLst/>
              <a:rect r="r" b="b" t="t" l="l"/>
              <a:pathLst>
                <a:path h="1081532" w="2672461">
                  <a:moveTo>
                    <a:pt x="0" y="0"/>
                  </a:moveTo>
                  <a:lnTo>
                    <a:pt x="2672461" y="0"/>
                  </a:lnTo>
                  <a:lnTo>
                    <a:pt x="2672461" y="1081532"/>
                  </a:lnTo>
                  <a:lnTo>
                    <a:pt x="0" y="10815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4695" r="-8057" b="-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6844" y="108318"/>
            <a:ext cx="18040483" cy="10070373"/>
            <a:chOff x="0" y="0"/>
            <a:chExt cx="24053978" cy="134271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053927" cy="13427202"/>
            </a:xfrm>
            <a:custGeom>
              <a:avLst/>
              <a:gdLst/>
              <a:ahLst/>
              <a:cxnLst/>
              <a:rect r="r" b="b" t="t" l="l"/>
              <a:pathLst>
                <a:path h="13427202" w="24053927">
                  <a:moveTo>
                    <a:pt x="28575" y="0"/>
                  </a:moveTo>
                  <a:lnTo>
                    <a:pt x="24025352" y="0"/>
                  </a:lnTo>
                  <a:cubicBezTo>
                    <a:pt x="24041100" y="0"/>
                    <a:pt x="24053927" y="12827"/>
                    <a:pt x="24053927" y="28575"/>
                  </a:cubicBezTo>
                  <a:lnTo>
                    <a:pt x="24053927" y="13398627"/>
                  </a:lnTo>
                  <a:cubicBezTo>
                    <a:pt x="24053927" y="13414375"/>
                    <a:pt x="24041100" y="13427202"/>
                    <a:pt x="24025352" y="13427202"/>
                  </a:cubicBezTo>
                  <a:lnTo>
                    <a:pt x="28575" y="13427202"/>
                  </a:lnTo>
                  <a:cubicBezTo>
                    <a:pt x="12827" y="13427202"/>
                    <a:pt x="0" y="13414375"/>
                    <a:pt x="0" y="13398627"/>
                  </a:cubicBezTo>
                  <a:lnTo>
                    <a:pt x="0" y="28575"/>
                  </a:lnTo>
                  <a:cubicBezTo>
                    <a:pt x="0" y="12827"/>
                    <a:pt x="12827" y="0"/>
                    <a:pt x="28575" y="0"/>
                  </a:cubicBezTo>
                  <a:moveTo>
                    <a:pt x="28575" y="57150"/>
                  </a:moveTo>
                  <a:lnTo>
                    <a:pt x="28575" y="28575"/>
                  </a:lnTo>
                  <a:lnTo>
                    <a:pt x="57150" y="28575"/>
                  </a:lnTo>
                  <a:lnTo>
                    <a:pt x="57150" y="13398627"/>
                  </a:lnTo>
                  <a:lnTo>
                    <a:pt x="28575" y="13398627"/>
                  </a:lnTo>
                  <a:lnTo>
                    <a:pt x="28575" y="13370052"/>
                  </a:lnTo>
                  <a:lnTo>
                    <a:pt x="24025352" y="13370052"/>
                  </a:lnTo>
                  <a:lnTo>
                    <a:pt x="24025352" y="13398627"/>
                  </a:lnTo>
                  <a:lnTo>
                    <a:pt x="23996777" y="13398627"/>
                  </a:lnTo>
                  <a:lnTo>
                    <a:pt x="23996777" y="28575"/>
                  </a:lnTo>
                  <a:lnTo>
                    <a:pt x="24025352" y="28575"/>
                  </a:lnTo>
                  <a:lnTo>
                    <a:pt x="24025352" y="57150"/>
                  </a:lnTo>
                  <a:lnTo>
                    <a:pt x="28575" y="57150"/>
                  </a:lnTo>
                  <a:close/>
                </a:path>
              </a:pathLst>
            </a:custGeom>
            <a:solidFill>
              <a:srgbClr val="46B0F9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659382" y="2095243"/>
            <a:ext cx="6676431" cy="6096514"/>
          </a:xfrm>
          <a:custGeom>
            <a:avLst/>
            <a:gdLst/>
            <a:ahLst/>
            <a:cxnLst/>
            <a:rect r="r" b="b" t="t" l="l"/>
            <a:pathLst>
              <a:path h="6096514" w="6676431">
                <a:moveTo>
                  <a:pt x="0" y="0"/>
                </a:moveTo>
                <a:lnTo>
                  <a:pt x="6676431" y="0"/>
                </a:lnTo>
                <a:lnTo>
                  <a:pt x="6676431" y="6096514"/>
                </a:lnTo>
                <a:lnTo>
                  <a:pt x="0" y="60965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532" b="-23597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870766" y="3348804"/>
            <a:ext cx="9388534" cy="62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78679" indent="-389339" lvl="1">
              <a:lnSpc>
                <a:spcPts val="4472"/>
              </a:lnSpc>
              <a:buFont typeface="Arial"/>
              <a:buChar char="•"/>
            </a:pPr>
            <a:r>
              <a:rPr lang="en-US" sz="3606" spc="-23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Loan defaults cause major financial losses for banks and NBFCs</a:t>
            </a:r>
          </a:p>
          <a:p>
            <a:pPr algn="just" marL="778679" indent="-389339" lvl="1">
              <a:lnSpc>
                <a:spcPts val="4472"/>
              </a:lnSpc>
              <a:buFont typeface="Arial"/>
              <a:buChar char="•"/>
            </a:pPr>
            <a:r>
              <a:rPr lang="en-US" sz="3606" spc="-23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Traditional credit scoring models are limited and sometimes non-interpretable</a:t>
            </a:r>
          </a:p>
          <a:p>
            <a:pPr algn="just" marL="778679" indent="-389339" lvl="1">
              <a:lnSpc>
                <a:spcPts val="4472"/>
              </a:lnSpc>
              <a:buFont typeface="Arial"/>
              <a:buChar char="•"/>
            </a:pPr>
            <a:r>
              <a:rPr lang="en-US" sz="3606" spc="-23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Availability of diverse borrower data enables improved prediction using ML</a:t>
            </a:r>
          </a:p>
          <a:p>
            <a:pPr algn="just" marL="778679" indent="-389339" lvl="1">
              <a:lnSpc>
                <a:spcPts val="4472"/>
              </a:lnSpc>
              <a:buFont typeface="Arial"/>
              <a:buChar char="•"/>
            </a:pPr>
            <a:r>
              <a:rPr lang="en-US" sz="3606" spc="-23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Credit risk models must provide probabilistic outputs</a:t>
            </a:r>
          </a:p>
          <a:p>
            <a:pPr algn="just" marL="778679" indent="-389339" lvl="1">
              <a:lnSpc>
                <a:spcPts val="4472"/>
              </a:lnSpc>
              <a:buFont typeface="Arial"/>
              <a:buChar char="•"/>
            </a:pPr>
            <a:r>
              <a:rPr lang="en-US" sz="3606" spc="-23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Models should also be interpretable for transparent decision-making</a:t>
            </a:r>
          </a:p>
          <a:p>
            <a:pPr algn="just">
              <a:lnSpc>
                <a:spcPts val="4472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7870766" y="2295268"/>
            <a:ext cx="9388534" cy="832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145"/>
              </a:lnSpc>
            </a:pPr>
            <a:r>
              <a:rPr lang="en-US" b="true" sz="6827" spc="-396">
                <a:solidFill>
                  <a:srgbClr val="101B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Introduction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077133" y="191729"/>
            <a:ext cx="2004384" cy="811159"/>
            <a:chOff x="0" y="0"/>
            <a:chExt cx="2672512" cy="1081545"/>
          </a:xfrm>
        </p:grpSpPr>
        <p:sp>
          <p:nvSpPr>
            <p:cNvPr name="Freeform 3" id="3" descr="A picture containing text, clipart  Description automatically generated"/>
            <p:cNvSpPr/>
            <p:nvPr/>
          </p:nvSpPr>
          <p:spPr>
            <a:xfrm flipH="false" flipV="false" rot="0">
              <a:off x="0" y="0"/>
              <a:ext cx="2672461" cy="1081532"/>
            </a:xfrm>
            <a:custGeom>
              <a:avLst/>
              <a:gdLst/>
              <a:ahLst/>
              <a:cxnLst/>
              <a:rect r="r" b="b" t="t" l="l"/>
              <a:pathLst>
                <a:path h="1081532" w="2672461">
                  <a:moveTo>
                    <a:pt x="0" y="0"/>
                  </a:moveTo>
                  <a:lnTo>
                    <a:pt x="2672461" y="0"/>
                  </a:lnTo>
                  <a:lnTo>
                    <a:pt x="2672461" y="1081532"/>
                  </a:lnTo>
                  <a:lnTo>
                    <a:pt x="0" y="10815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4695" r="-8057" b="-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6844" y="108318"/>
            <a:ext cx="18040483" cy="10070373"/>
            <a:chOff x="0" y="0"/>
            <a:chExt cx="24053978" cy="134271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053927" cy="13427202"/>
            </a:xfrm>
            <a:custGeom>
              <a:avLst/>
              <a:gdLst/>
              <a:ahLst/>
              <a:cxnLst/>
              <a:rect r="r" b="b" t="t" l="l"/>
              <a:pathLst>
                <a:path h="13427202" w="24053927">
                  <a:moveTo>
                    <a:pt x="28575" y="0"/>
                  </a:moveTo>
                  <a:lnTo>
                    <a:pt x="24025352" y="0"/>
                  </a:lnTo>
                  <a:cubicBezTo>
                    <a:pt x="24041100" y="0"/>
                    <a:pt x="24053927" y="12827"/>
                    <a:pt x="24053927" y="28575"/>
                  </a:cubicBezTo>
                  <a:lnTo>
                    <a:pt x="24053927" y="13398627"/>
                  </a:lnTo>
                  <a:cubicBezTo>
                    <a:pt x="24053927" y="13414375"/>
                    <a:pt x="24041100" y="13427202"/>
                    <a:pt x="24025352" y="13427202"/>
                  </a:cubicBezTo>
                  <a:lnTo>
                    <a:pt x="28575" y="13427202"/>
                  </a:lnTo>
                  <a:cubicBezTo>
                    <a:pt x="12827" y="13427202"/>
                    <a:pt x="0" y="13414375"/>
                    <a:pt x="0" y="13398627"/>
                  </a:cubicBezTo>
                  <a:lnTo>
                    <a:pt x="0" y="28575"/>
                  </a:lnTo>
                  <a:cubicBezTo>
                    <a:pt x="0" y="12827"/>
                    <a:pt x="12827" y="0"/>
                    <a:pt x="28575" y="0"/>
                  </a:cubicBezTo>
                  <a:moveTo>
                    <a:pt x="28575" y="57150"/>
                  </a:moveTo>
                  <a:lnTo>
                    <a:pt x="28575" y="28575"/>
                  </a:lnTo>
                  <a:lnTo>
                    <a:pt x="57150" y="28575"/>
                  </a:lnTo>
                  <a:lnTo>
                    <a:pt x="57150" y="13398627"/>
                  </a:lnTo>
                  <a:lnTo>
                    <a:pt x="28575" y="13398627"/>
                  </a:lnTo>
                  <a:lnTo>
                    <a:pt x="28575" y="13370052"/>
                  </a:lnTo>
                  <a:lnTo>
                    <a:pt x="24025352" y="13370052"/>
                  </a:lnTo>
                  <a:lnTo>
                    <a:pt x="24025352" y="13398627"/>
                  </a:lnTo>
                  <a:lnTo>
                    <a:pt x="23996777" y="13398627"/>
                  </a:lnTo>
                  <a:lnTo>
                    <a:pt x="23996777" y="28575"/>
                  </a:lnTo>
                  <a:lnTo>
                    <a:pt x="24025352" y="28575"/>
                  </a:lnTo>
                  <a:lnTo>
                    <a:pt x="24025352" y="57150"/>
                  </a:lnTo>
                  <a:lnTo>
                    <a:pt x="28575" y="57150"/>
                  </a:lnTo>
                  <a:close/>
                </a:path>
              </a:pathLst>
            </a:custGeom>
            <a:solidFill>
              <a:srgbClr val="46B0F9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499106" y="731958"/>
            <a:ext cx="1589190" cy="31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91"/>
              </a:lnSpc>
              <a:spcBef>
                <a:spcPct val="0"/>
              </a:spcBef>
            </a:pPr>
            <a:r>
              <a:rPr lang="en-US" b="true" sz="1851" spc="3">
                <a:solidFill>
                  <a:srgbClr val="F4F4F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05167" y="1505861"/>
            <a:ext cx="16174158" cy="8370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66"/>
              </a:lnSpc>
            </a:pPr>
            <a:r>
              <a:rPr lang="en-US" b="true" sz="2311" spc="-147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1. Shreya &amp; Pathak (2025) — Explainable Artificial Intelligence Credit Risk Assessment using Machine Learning</a:t>
            </a:r>
          </a:p>
          <a:p>
            <a:pPr algn="just" marL="499077" indent="-249539" lvl="1">
              <a:lnSpc>
                <a:spcPts val="2866"/>
              </a:lnSpc>
              <a:buFont typeface="Arial"/>
              <a:buChar char="•"/>
            </a:pPr>
            <a:r>
              <a:rPr lang="en-US" sz="2311" spc="-147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Found that advanced ML models (XGBoost, Random Forest, LightGBM) outperform traditional logistic regression in credit default prediction.</a:t>
            </a:r>
          </a:p>
          <a:p>
            <a:pPr algn="just" marL="499077" indent="-249539" lvl="1">
              <a:lnSpc>
                <a:spcPts val="2866"/>
              </a:lnSpc>
              <a:buFont typeface="Arial"/>
              <a:buChar char="•"/>
            </a:pPr>
            <a:r>
              <a:rPr lang="en-US" sz="2311" spc="-147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Demonstrated the use of SHAP to explain model predictions and highlight key financial risk factors.</a:t>
            </a:r>
          </a:p>
          <a:p>
            <a:pPr algn="just" marL="499077" indent="-249539" lvl="1">
              <a:lnSpc>
                <a:spcPts val="2866"/>
              </a:lnSpc>
              <a:buFont typeface="Arial"/>
              <a:buChar char="•"/>
            </a:pPr>
            <a:r>
              <a:rPr lang="en-US" sz="2311" spc="-147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Concluded that combining performance with explainability improves trust in automated credit systems.</a:t>
            </a:r>
          </a:p>
          <a:p>
            <a:pPr algn="just">
              <a:lnSpc>
                <a:spcPts val="2866"/>
              </a:lnSpc>
            </a:pPr>
            <a:r>
              <a:rPr lang="en-US" b="true" sz="2311" spc="-147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2. Michael Raymond (2025) — Explainable AI in Credit Scoring: Balancing Accuracy and Transparency</a:t>
            </a:r>
          </a:p>
          <a:p>
            <a:pPr algn="just" marL="499077" indent="-249539" lvl="1">
              <a:lnSpc>
                <a:spcPts val="2866"/>
              </a:lnSpc>
              <a:buFont typeface="Arial"/>
              <a:buChar char="•"/>
            </a:pPr>
            <a:r>
              <a:rPr lang="en-US" sz="2311" spc="-147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Showed that explainable AI techniques like SHAP and LIME help interpret complex ML models without significantly reducing prediction accuracy.</a:t>
            </a:r>
          </a:p>
          <a:p>
            <a:pPr algn="just" marL="499077" indent="-249539" lvl="1">
              <a:lnSpc>
                <a:spcPts val="2866"/>
              </a:lnSpc>
              <a:buFont typeface="Arial"/>
              <a:buChar char="•"/>
            </a:pPr>
            <a:r>
              <a:rPr lang="en-US" sz="2311" spc="-147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Highlighted the importance of transparency for regulatory compliance in lending.</a:t>
            </a:r>
          </a:p>
          <a:p>
            <a:pPr algn="just" marL="499077" indent="-249539" lvl="1">
              <a:lnSpc>
                <a:spcPts val="2866"/>
              </a:lnSpc>
              <a:buFont typeface="Arial"/>
              <a:buChar char="•"/>
            </a:pPr>
            <a:r>
              <a:rPr lang="en-US" sz="2311" spc="-147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Emphasized the need to balance predictive power with model interpretability.</a:t>
            </a:r>
          </a:p>
          <a:p>
            <a:pPr algn="just">
              <a:lnSpc>
                <a:spcPts val="2866"/>
              </a:lnSpc>
            </a:pPr>
            <a:r>
              <a:rPr lang="en-US" b="true" sz="2311" spc="-147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3. Y. Chen (2024) — Measuring Fairness in Credit Ratings</a:t>
            </a:r>
          </a:p>
          <a:p>
            <a:pPr algn="just" marL="499077" indent="-249539" lvl="1">
              <a:lnSpc>
                <a:spcPts val="2866"/>
              </a:lnSpc>
              <a:buFont typeface="Arial"/>
              <a:buChar char="•"/>
            </a:pPr>
            <a:r>
              <a:rPr lang="en-US" sz="2311" spc="-147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Focused on fairness evaluation in AI-based credit scoring systems.</a:t>
            </a:r>
          </a:p>
          <a:p>
            <a:pPr algn="just" marL="499077" indent="-249539" lvl="1">
              <a:lnSpc>
                <a:spcPts val="2866"/>
              </a:lnSpc>
              <a:buFont typeface="Arial"/>
              <a:buChar char="•"/>
            </a:pPr>
            <a:r>
              <a:rPr lang="en-US" sz="2311" spc="-147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Suggested that interpretability tools should be combined with fairness metrics to avoid biased lending decisions.</a:t>
            </a:r>
          </a:p>
          <a:p>
            <a:pPr algn="just" marL="499077" indent="-249539" lvl="1">
              <a:lnSpc>
                <a:spcPts val="2866"/>
              </a:lnSpc>
              <a:buFont typeface="Arial"/>
              <a:buChar char="•"/>
            </a:pPr>
            <a:r>
              <a:rPr lang="en-US" sz="2311" spc="-147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Highlighted risks of historical bias in training data affecting automated credit decisions.</a:t>
            </a:r>
          </a:p>
          <a:p>
            <a:pPr algn="just">
              <a:lnSpc>
                <a:spcPts val="2866"/>
              </a:lnSpc>
            </a:pPr>
            <a:r>
              <a:rPr lang="en-US" b="true" sz="2311" spc="-147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4. L.O. Hjelkrem (2023) — Explaining Deep Learning Models for Credit Scoring</a:t>
            </a:r>
          </a:p>
          <a:p>
            <a:pPr algn="just" marL="499077" indent="-249539" lvl="1">
              <a:lnSpc>
                <a:spcPts val="2866"/>
              </a:lnSpc>
              <a:buFont typeface="Arial"/>
              <a:buChar char="•"/>
            </a:pPr>
            <a:r>
              <a:rPr lang="en-US" sz="2311" spc="-147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Explored the application of deep learning models on richer financial and behavioral data.</a:t>
            </a:r>
          </a:p>
          <a:p>
            <a:pPr algn="just" marL="499077" indent="-249539" lvl="1">
              <a:lnSpc>
                <a:spcPts val="2866"/>
              </a:lnSpc>
              <a:buFont typeface="Arial"/>
              <a:buChar char="•"/>
            </a:pPr>
            <a:r>
              <a:rPr lang="en-US" sz="2311" spc="-147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Demonstrated that SHAP can effectively interpret deep learning predictions.</a:t>
            </a:r>
          </a:p>
          <a:p>
            <a:pPr algn="just" marL="499077" indent="-249539" lvl="1">
              <a:lnSpc>
                <a:spcPts val="2866"/>
              </a:lnSpc>
              <a:buFont typeface="Arial"/>
              <a:buChar char="•"/>
            </a:pPr>
            <a:r>
              <a:rPr lang="en-US" sz="2311" spc="-147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Concluded that deep models can improve performance when paired with strong explainability techniques.</a:t>
            </a:r>
          </a:p>
          <a:p>
            <a:pPr algn="just">
              <a:lnSpc>
                <a:spcPts val="2866"/>
              </a:lnSpc>
            </a:pPr>
            <a:r>
              <a:rPr lang="en-US" b="true" sz="2311" spc="-147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5. Explainable AI in Credit Scoring: Model Evaluation (2025)</a:t>
            </a:r>
          </a:p>
          <a:p>
            <a:pPr algn="just" marL="499077" indent="-249539" lvl="1">
              <a:lnSpc>
                <a:spcPts val="2866"/>
              </a:lnSpc>
              <a:buFont typeface="Arial"/>
              <a:buChar char="•"/>
            </a:pPr>
            <a:r>
              <a:rPr lang="en-US" sz="2311" spc="-147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Conducted comparative analysis of multiple ML models (Logistic Regression, Random Forest, Gradient Boosting, Neural Networks).</a:t>
            </a:r>
          </a:p>
          <a:p>
            <a:pPr algn="just" marL="499077" indent="-249539" lvl="1">
              <a:lnSpc>
                <a:spcPts val="2866"/>
              </a:lnSpc>
              <a:buFont typeface="Arial"/>
              <a:buChar char="•"/>
            </a:pPr>
            <a:r>
              <a:rPr lang="en-US" sz="2311" spc="-147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Found that ensemble and advanced ML models achieve higher predictive performance.</a:t>
            </a:r>
          </a:p>
          <a:p>
            <a:pPr algn="just" marL="499077" indent="-249539" lvl="1">
              <a:lnSpc>
                <a:spcPts val="2866"/>
              </a:lnSpc>
              <a:buFont typeface="Arial"/>
              <a:buChar char="•"/>
            </a:pPr>
            <a:r>
              <a:rPr lang="en-US" sz="2311" spc="-147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Emphasized that explainability tools are essential for understanding model behavior and supporting accountable AI use in finance.</a:t>
            </a:r>
          </a:p>
          <a:p>
            <a:pPr algn="just">
              <a:lnSpc>
                <a:spcPts val="2866"/>
              </a:lnSpc>
            </a:pPr>
          </a:p>
          <a:p>
            <a:pPr algn="just">
              <a:lnSpc>
                <a:spcPts val="2866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905167" y="592368"/>
            <a:ext cx="9388534" cy="832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145"/>
              </a:lnSpc>
            </a:pPr>
            <a:r>
              <a:rPr lang="en-US" b="true" sz="6827" spc="-396">
                <a:solidFill>
                  <a:srgbClr val="101B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Literature Review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077133" y="191729"/>
            <a:ext cx="2004384" cy="811159"/>
            <a:chOff x="0" y="0"/>
            <a:chExt cx="2672512" cy="1081545"/>
          </a:xfrm>
        </p:grpSpPr>
        <p:sp>
          <p:nvSpPr>
            <p:cNvPr name="Freeform 3" id="3" descr="A picture containing text, clipart  Description automatically generated"/>
            <p:cNvSpPr/>
            <p:nvPr/>
          </p:nvSpPr>
          <p:spPr>
            <a:xfrm flipH="false" flipV="false" rot="0">
              <a:off x="0" y="0"/>
              <a:ext cx="2672461" cy="1081532"/>
            </a:xfrm>
            <a:custGeom>
              <a:avLst/>
              <a:gdLst/>
              <a:ahLst/>
              <a:cxnLst/>
              <a:rect r="r" b="b" t="t" l="l"/>
              <a:pathLst>
                <a:path h="1081532" w="2672461">
                  <a:moveTo>
                    <a:pt x="0" y="0"/>
                  </a:moveTo>
                  <a:lnTo>
                    <a:pt x="2672461" y="0"/>
                  </a:lnTo>
                  <a:lnTo>
                    <a:pt x="2672461" y="1081532"/>
                  </a:lnTo>
                  <a:lnTo>
                    <a:pt x="0" y="10815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4695" r="-8057" b="-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6844" y="108318"/>
            <a:ext cx="18040483" cy="10070373"/>
            <a:chOff x="0" y="0"/>
            <a:chExt cx="24053978" cy="134271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053927" cy="13427202"/>
            </a:xfrm>
            <a:custGeom>
              <a:avLst/>
              <a:gdLst/>
              <a:ahLst/>
              <a:cxnLst/>
              <a:rect r="r" b="b" t="t" l="l"/>
              <a:pathLst>
                <a:path h="13427202" w="24053927">
                  <a:moveTo>
                    <a:pt x="28575" y="0"/>
                  </a:moveTo>
                  <a:lnTo>
                    <a:pt x="24025352" y="0"/>
                  </a:lnTo>
                  <a:cubicBezTo>
                    <a:pt x="24041100" y="0"/>
                    <a:pt x="24053927" y="12827"/>
                    <a:pt x="24053927" y="28575"/>
                  </a:cubicBezTo>
                  <a:lnTo>
                    <a:pt x="24053927" y="13398627"/>
                  </a:lnTo>
                  <a:cubicBezTo>
                    <a:pt x="24053927" y="13414375"/>
                    <a:pt x="24041100" y="13427202"/>
                    <a:pt x="24025352" y="13427202"/>
                  </a:cubicBezTo>
                  <a:lnTo>
                    <a:pt x="28575" y="13427202"/>
                  </a:lnTo>
                  <a:cubicBezTo>
                    <a:pt x="12827" y="13427202"/>
                    <a:pt x="0" y="13414375"/>
                    <a:pt x="0" y="13398627"/>
                  </a:cubicBezTo>
                  <a:lnTo>
                    <a:pt x="0" y="28575"/>
                  </a:lnTo>
                  <a:cubicBezTo>
                    <a:pt x="0" y="12827"/>
                    <a:pt x="12827" y="0"/>
                    <a:pt x="28575" y="0"/>
                  </a:cubicBezTo>
                  <a:moveTo>
                    <a:pt x="28575" y="57150"/>
                  </a:moveTo>
                  <a:lnTo>
                    <a:pt x="28575" y="28575"/>
                  </a:lnTo>
                  <a:lnTo>
                    <a:pt x="57150" y="28575"/>
                  </a:lnTo>
                  <a:lnTo>
                    <a:pt x="57150" y="13398627"/>
                  </a:lnTo>
                  <a:lnTo>
                    <a:pt x="28575" y="13398627"/>
                  </a:lnTo>
                  <a:lnTo>
                    <a:pt x="28575" y="13370052"/>
                  </a:lnTo>
                  <a:lnTo>
                    <a:pt x="24025352" y="13370052"/>
                  </a:lnTo>
                  <a:lnTo>
                    <a:pt x="24025352" y="13398627"/>
                  </a:lnTo>
                  <a:lnTo>
                    <a:pt x="23996777" y="13398627"/>
                  </a:lnTo>
                  <a:lnTo>
                    <a:pt x="23996777" y="28575"/>
                  </a:lnTo>
                  <a:lnTo>
                    <a:pt x="24025352" y="28575"/>
                  </a:lnTo>
                  <a:lnTo>
                    <a:pt x="24025352" y="57150"/>
                  </a:lnTo>
                  <a:lnTo>
                    <a:pt x="28575" y="57150"/>
                  </a:lnTo>
                  <a:close/>
                </a:path>
              </a:pathLst>
            </a:custGeom>
            <a:solidFill>
              <a:srgbClr val="46B0F9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499106" y="731958"/>
            <a:ext cx="1589190" cy="31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91"/>
              </a:lnSpc>
              <a:spcBef>
                <a:spcPct val="0"/>
              </a:spcBef>
            </a:pPr>
            <a:r>
              <a:rPr lang="en-US" b="true" sz="1851" spc="3">
                <a:solidFill>
                  <a:srgbClr val="F4F4F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11786" y="765596"/>
            <a:ext cx="4883867" cy="1302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71"/>
              </a:lnSpc>
              <a:spcBef>
                <a:spcPct val="0"/>
              </a:spcBef>
            </a:pPr>
            <a:r>
              <a:rPr lang="en-US" b="true" sz="7622" spc="-44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Motivation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023648"/>
            <a:ext cx="14482342" cy="6047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5741" indent="-397870" lvl="1">
              <a:lnSpc>
                <a:spcPts val="5159"/>
              </a:lnSpc>
              <a:buFont typeface="Arial"/>
              <a:buChar char="•"/>
            </a:pPr>
            <a:r>
              <a:rPr lang="en-US" sz="3685" spc="-21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Literature shows many ML credit models act as black boxes, limiting trust</a:t>
            </a:r>
          </a:p>
          <a:p>
            <a:pPr algn="l" marL="795741" indent="-397870" lvl="1">
              <a:lnSpc>
                <a:spcPts val="5159"/>
              </a:lnSpc>
              <a:buFont typeface="Arial"/>
              <a:buChar char="•"/>
            </a:pPr>
            <a:r>
              <a:rPr lang="en-US" sz="3685" spc="-21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Studies highlight the need for better interpretability in financial AI systems</a:t>
            </a:r>
          </a:p>
          <a:p>
            <a:pPr algn="l" marL="795741" indent="-397870" lvl="1">
              <a:lnSpc>
                <a:spcPts val="5159"/>
              </a:lnSpc>
              <a:buFont typeface="Arial"/>
              <a:buChar char="•"/>
            </a:pPr>
            <a:r>
              <a:rPr lang="en-US" sz="3685" spc="-21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Research identifies poor probability calibration as a common issue in risk prediction</a:t>
            </a:r>
          </a:p>
          <a:p>
            <a:pPr algn="l" marL="795741" indent="-397870" lvl="1">
              <a:lnSpc>
                <a:spcPts val="5159"/>
              </a:lnSpc>
              <a:buFont typeface="Arial"/>
              <a:buChar char="•"/>
            </a:pPr>
            <a:r>
              <a:rPr lang="en-US" sz="3685" spc="-21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Existing systems focus on prediction but lack guidance for high-risk applicants</a:t>
            </a:r>
          </a:p>
          <a:p>
            <a:pPr algn="l" marL="795741" indent="-397870" lvl="1">
              <a:lnSpc>
                <a:spcPts val="5159"/>
              </a:lnSpc>
              <a:buFont typeface="Arial"/>
              <a:buChar char="•"/>
            </a:pPr>
            <a:r>
              <a:rPr lang="en-US" sz="3685" spc="-21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XAI methods like SHAP and LIME improve transparency but are not fully integrated into user-focused systems</a:t>
            </a:r>
          </a:p>
          <a:p>
            <a:pPr algn="l" marL="795741" indent="-397870" lvl="1">
              <a:lnSpc>
                <a:spcPts val="5159"/>
              </a:lnSpc>
              <a:buFont typeface="Arial"/>
              <a:buChar char="•"/>
            </a:pPr>
            <a:r>
              <a:rPr lang="en-US" sz="3685" spc="-21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Gaps in current research motivated building a system that combines accurate prediction, calibrated probabilities, explainability, and a support chatbot</a:t>
            </a:r>
          </a:p>
          <a:p>
            <a:pPr algn="ctr">
              <a:lnSpc>
                <a:spcPts val="60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077133" y="191729"/>
            <a:ext cx="2004384" cy="811159"/>
            <a:chOff x="0" y="0"/>
            <a:chExt cx="2672512" cy="1081545"/>
          </a:xfrm>
        </p:grpSpPr>
        <p:sp>
          <p:nvSpPr>
            <p:cNvPr name="Freeform 3" id="3" descr="A picture containing text, clipart  Description automatically generated"/>
            <p:cNvSpPr/>
            <p:nvPr/>
          </p:nvSpPr>
          <p:spPr>
            <a:xfrm flipH="false" flipV="false" rot="0">
              <a:off x="0" y="0"/>
              <a:ext cx="2672461" cy="1081532"/>
            </a:xfrm>
            <a:custGeom>
              <a:avLst/>
              <a:gdLst/>
              <a:ahLst/>
              <a:cxnLst/>
              <a:rect r="r" b="b" t="t" l="l"/>
              <a:pathLst>
                <a:path h="1081532" w="2672461">
                  <a:moveTo>
                    <a:pt x="0" y="0"/>
                  </a:moveTo>
                  <a:lnTo>
                    <a:pt x="2672461" y="0"/>
                  </a:lnTo>
                  <a:lnTo>
                    <a:pt x="2672461" y="1081532"/>
                  </a:lnTo>
                  <a:lnTo>
                    <a:pt x="0" y="10815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4695" r="-8057" b="-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6844" y="108318"/>
            <a:ext cx="18040483" cy="10070373"/>
            <a:chOff x="0" y="0"/>
            <a:chExt cx="24053978" cy="134271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053927" cy="13427202"/>
            </a:xfrm>
            <a:custGeom>
              <a:avLst/>
              <a:gdLst/>
              <a:ahLst/>
              <a:cxnLst/>
              <a:rect r="r" b="b" t="t" l="l"/>
              <a:pathLst>
                <a:path h="13427202" w="24053927">
                  <a:moveTo>
                    <a:pt x="28575" y="0"/>
                  </a:moveTo>
                  <a:lnTo>
                    <a:pt x="24025352" y="0"/>
                  </a:lnTo>
                  <a:cubicBezTo>
                    <a:pt x="24041100" y="0"/>
                    <a:pt x="24053927" y="12827"/>
                    <a:pt x="24053927" y="28575"/>
                  </a:cubicBezTo>
                  <a:lnTo>
                    <a:pt x="24053927" y="13398627"/>
                  </a:lnTo>
                  <a:cubicBezTo>
                    <a:pt x="24053927" y="13414375"/>
                    <a:pt x="24041100" y="13427202"/>
                    <a:pt x="24025352" y="13427202"/>
                  </a:cubicBezTo>
                  <a:lnTo>
                    <a:pt x="28575" y="13427202"/>
                  </a:lnTo>
                  <a:cubicBezTo>
                    <a:pt x="12827" y="13427202"/>
                    <a:pt x="0" y="13414375"/>
                    <a:pt x="0" y="13398627"/>
                  </a:cubicBezTo>
                  <a:lnTo>
                    <a:pt x="0" y="28575"/>
                  </a:lnTo>
                  <a:cubicBezTo>
                    <a:pt x="0" y="12827"/>
                    <a:pt x="12827" y="0"/>
                    <a:pt x="28575" y="0"/>
                  </a:cubicBezTo>
                  <a:moveTo>
                    <a:pt x="28575" y="57150"/>
                  </a:moveTo>
                  <a:lnTo>
                    <a:pt x="28575" y="28575"/>
                  </a:lnTo>
                  <a:lnTo>
                    <a:pt x="57150" y="28575"/>
                  </a:lnTo>
                  <a:lnTo>
                    <a:pt x="57150" y="13398627"/>
                  </a:lnTo>
                  <a:lnTo>
                    <a:pt x="28575" y="13398627"/>
                  </a:lnTo>
                  <a:lnTo>
                    <a:pt x="28575" y="13370052"/>
                  </a:lnTo>
                  <a:lnTo>
                    <a:pt x="24025352" y="13370052"/>
                  </a:lnTo>
                  <a:lnTo>
                    <a:pt x="24025352" y="13398627"/>
                  </a:lnTo>
                  <a:lnTo>
                    <a:pt x="23996777" y="13398627"/>
                  </a:lnTo>
                  <a:lnTo>
                    <a:pt x="23996777" y="28575"/>
                  </a:lnTo>
                  <a:lnTo>
                    <a:pt x="24025352" y="28575"/>
                  </a:lnTo>
                  <a:lnTo>
                    <a:pt x="24025352" y="57150"/>
                  </a:lnTo>
                  <a:lnTo>
                    <a:pt x="28575" y="57150"/>
                  </a:lnTo>
                  <a:close/>
                </a:path>
              </a:pathLst>
            </a:custGeom>
            <a:solidFill>
              <a:srgbClr val="46B0F9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-321703" y="0"/>
            <a:ext cx="4264059" cy="10287000"/>
            <a:chOff x="0" y="0"/>
            <a:chExt cx="1123044" cy="270933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23044" cy="2709333"/>
            </a:xfrm>
            <a:custGeom>
              <a:avLst/>
              <a:gdLst/>
              <a:ahLst/>
              <a:cxnLst/>
              <a:rect r="r" b="b" t="t" l="l"/>
              <a:pathLst>
                <a:path h="2709333" w="1123044">
                  <a:moveTo>
                    <a:pt x="92597" y="0"/>
                  </a:moveTo>
                  <a:lnTo>
                    <a:pt x="1030448" y="0"/>
                  </a:lnTo>
                  <a:cubicBezTo>
                    <a:pt x="1081587" y="0"/>
                    <a:pt x="1123044" y="41457"/>
                    <a:pt x="1123044" y="92597"/>
                  </a:cubicBezTo>
                  <a:lnTo>
                    <a:pt x="1123044" y="2616737"/>
                  </a:lnTo>
                  <a:cubicBezTo>
                    <a:pt x="1123044" y="2667876"/>
                    <a:pt x="1081587" y="2709333"/>
                    <a:pt x="1030448" y="2709333"/>
                  </a:cubicBezTo>
                  <a:lnTo>
                    <a:pt x="92597" y="2709333"/>
                  </a:lnTo>
                  <a:cubicBezTo>
                    <a:pt x="41457" y="2709333"/>
                    <a:pt x="0" y="2667876"/>
                    <a:pt x="0" y="2616737"/>
                  </a:cubicBezTo>
                  <a:lnTo>
                    <a:pt x="0" y="92597"/>
                  </a:lnTo>
                  <a:cubicBezTo>
                    <a:pt x="0" y="41457"/>
                    <a:pt x="41457" y="0"/>
                    <a:pt x="92597" y="0"/>
                  </a:cubicBezTo>
                  <a:close/>
                </a:path>
              </a:pathLst>
            </a:custGeom>
            <a:solidFill>
              <a:srgbClr val="DCE2EB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123044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739121" y="1965021"/>
            <a:ext cx="7244324" cy="6356958"/>
          </a:xfrm>
          <a:custGeom>
            <a:avLst/>
            <a:gdLst/>
            <a:ahLst/>
            <a:cxnLst/>
            <a:rect r="r" b="b" t="t" l="l"/>
            <a:pathLst>
              <a:path h="6356958" w="7244324">
                <a:moveTo>
                  <a:pt x="0" y="0"/>
                </a:moveTo>
                <a:lnTo>
                  <a:pt x="7244324" y="0"/>
                </a:lnTo>
                <a:lnTo>
                  <a:pt x="7244324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6001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8242375" y="247650"/>
            <a:ext cx="6741273" cy="2007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679"/>
              </a:lnSpc>
            </a:pPr>
            <a:r>
              <a:rPr lang="en-US" b="true" sz="8532" spc="-494">
                <a:solidFill>
                  <a:srgbClr val="101B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Problem </a:t>
            </a:r>
          </a:p>
          <a:p>
            <a:pPr algn="just">
              <a:lnSpc>
                <a:spcPts val="7679"/>
              </a:lnSpc>
            </a:pPr>
            <a:r>
              <a:rPr lang="en-US" b="true" sz="8532" spc="-494">
                <a:solidFill>
                  <a:srgbClr val="101B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Statement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395913" y="2145828"/>
            <a:ext cx="9120086" cy="1691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75"/>
              </a:lnSpc>
            </a:pPr>
            <a:r>
              <a:rPr lang="en-US" sz="2641" spc="-16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Existing credit scoring systems often lack accuracy, interpretability, and well-calibrated probabilities, and fail to guide high-risk applicants, creating the need for an explainable, probabilistic system with diverse financial data and an intelligent chatbot for personalized credit improvement support.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395913" y="5223867"/>
            <a:ext cx="7452003" cy="789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47"/>
              </a:lnSpc>
              <a:spcBef>
                <a:spcPct val="0"/>
              </a:spcBef>
            </a:pPr>
            <a:r>
              <a:rPr lang="en-US" b="true" sz="4951" spc="-35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LAY MAN’S EXPLANATION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395913" y="6171458"/>
            <a:ext cx="9120086" cy="4203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23551" indent="-361775" lvl="1">
              <a:lnSpc>
                <a:spcPts val="3619"/>
              </a:lnSpc>
              <a:spcBef>
                <a:spcPct val="0"/>
              </a:spcBef>
              <a:buFont typeface="Arial"/>
              <a:buChar char="•"/>
            </a:pPr>
            <a:r>
              <a:rPr lang="en-US" sz="3351" spc="-237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Current loan approval systems are often n</a:t>
            </a:r>
            <a:r>
              <a:rPr lang="en-US" sz="3351" spc="-237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ot accurate enough or work as black boxes</a:t>
            </a:r>
          </a:p>
          <a:p>
            <a:pPr algn="just" marL="723551" indent="-361775" lvl="1">
              <a:lnSpc>
                <a:spcPts val="3619"/>
              </a:lnSpc>
              <a:spcBef>
                <a:spcPct val="0"/>
              </a:spcBef>
              <a:buFont typeface="Arial"/>
              <a:buChar char="•"/>
            </a:pPr>
            <a:r>
              <a:rPr lang="en-US" sz="3351" spc="-237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Many systems do not provide trustworthy risk percentages</a:t>
            </a:r>
          </a:p>
          <a:p>
            <a:pPr algn="just" marL="723551" indent="-361775" lvl="1">
              <a:lnSpc>
                <a:spcPts val="3619"/>
              </a:lnSpc>
              <a:spcBef>
                <a:spcPct val="0"/>
              </a:spcBef>
              <a:buFont typeface="Arial"/>
              <a:buChar char="•"/>
            </a:pPr>
            <a:r>
              <a:rPr lang="en-US" sz="3351" spc="-237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There is a need for a smarter system using diverse financial data</a:t>
            </a:r>
          </a:p>
          <a:p>
            <a:pPr algn="just" marL="723551" indent="-361775" lvl="1">
              <a:lnSpc>
                <a:spcPts val="3619"/>
              </a:lnSpc>
              <a:spcBef>
                <a:spcPct val="0"/>
              </a:spcBef>
              <a:buFont typeface="Arial"/>
              <a:buChar char="•"/>
            </a:pPr>
            <a:r>
              <a:rPr lang="en-US" sz="3351" spc="-237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The system should clearly predict the chance of default</a:t>
            </a:r>
          </a:p>
          <a:p>
            <a:pPr algn="just" marL="723551" indent="-361775" lvl="1">
              <a:lnSpc>
                <a:spcPts val="3619"/>
              </a:lnSpc>
              <a:spcBef>
                <a:spcPct val="0"/>
              </a:spcBef>
              <a:buFont typeface="Arial"/>
              <a:buChar char="•"/>
            </a:pPr>
            <a:r>
              <a:rPr lang="en-US" sz="3351" spc="-237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It should also explain the reason behind each decision</a:t>
            </a:r>
          </a:p>
          <a:p>
            <a:pPr algn="just">
              <a:lnSpc>
                <a:spcPts val="361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077133" y="191729"/>
            <a:ext cx="2004384" cy="811159"/>
            <a:chOff x="0" y="0"/>
            <a:chExt cx="2672512" cy="1081545"/>
          </a:xfrm>
        </p:grpSpPr>
        <p:sp>
          <p:nvSpPr>
            <p:cNvPr name="Freeform 3" id="3" descr="A picture containing text, clipart  Description automatically generated"/>
            <p:cNvSpPr/>
            <p:nvPr/>
          </p:nvSpPr>
          <p:spPr>
            <a:xfrm flipH="false" flipV="false" rot="0">
              <a:off x="0" y="0"/>
              <a:ext cx="2672461" cy="1081532"/>
            </a:xfrm>
            <a:custGeom>
              <a:avLst/>
              <a:gdLst/>
              <a:ahLst/>
              <a:cxnLst/>
              <a:rect r="r" b="b" t="t" l="l"/>
              <a:pathLst>
                <a:path h="1081532" w="2672461">
                  <a:moveTo>
                    <a:pt x="0" y="0"/>
                  </a:moveTo>
                  <a:lnTo>
                    <a:pt x="2672461" y="0"/>
                  </a:lnTo>
                  <a:lnTo>
                    <a:pt x="2672461" y="1081532"/>
                  </a:lnTo>
                  <a:lnTo>
                    <a:pt x="0" y="10815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4695" r="-8057" b="-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6844" y="108318"/>
            <a:ext cx="18040483" cy="10070373"/>
            <a:chOff x="0" y="0"/>
            <a:chExt cx="24053978" cy="134271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053927" cy="13427202"/>
            </a:xfrm>
            <a:custGeom>
              <a:avLst/>
              <a:gdLst/>
              <a:ahLst/>
              <a:cxnLst/>
              <a:rect r="r" b="b" t="t" l="l"/>
              <a:pathLst>
                <a:path h="13427202" w="24053927">
                  <a:moveTo>
                    <a:pt x="28575" y="0"/>
                  </a:moveTo>
                  <a:lnTo>
                    <a:pt x="24025352" y="0"/>
                  </a:lnTo>
                  <a:cubicBezTo>
                    <a:pt x="24041100" y="0"/>
                    <a:pt x="24053927" y="12827"/>
                    <a:pt x="24053927" y="28575"/>
                  </a:cubicBezTo>
                  <a:lnTo>
                    <a:pt x="24053927" y="13398627"/>
                  </a:lnTo>
                  <a:cubicBezTo>
                    <a:pt x="24053927" y="13414375"/>
                    <a:pt x="24041100" y="13427202"/>
                    <a:pt x="24025352" y="13427202"/>
                  </a:cubicBezTo>
                  <a:lnTo>
                    <a:pt x="28575" y="13427202"/>
                  </a:lnTo>
                  <a:cubicBezTo>
                    <a:pt x="12827" y="13427202"/>
                    <a:pt x="0" y="13414375"/>
                    <a:pt x="0" y="13398627"/>
                  </a:cubicBezTo>
                  <a:lnTo>
                    <a:pt x="0" y="28575"/>
                  </a:lnTo>
                  <a:cubicBezTo>
                    <a:pt x="0" y="12827"/>
                    <a:pt x="12827" y="0"/>
                    <a:pt x="28575" y="0"/>
                  </a:cubicBezTo>
                  <a:moveTo>
                    <a:pt x="28575" y="57150"/>
                  </a:moveTo>
                  <a:lnTo>
                    <a:pt x="28575" y="28575"/>
                  </a:lnTo>
                  <a:lnTo>
                    <a:pt x="57150" y="28575"/>
                  </a:lnTo>
                  <a:lnTo>
                    <a:pt x="57150" y="13398627"/>
                  </a:lnTo>
                  <a:lnTo>
                    <a:pt x="28575" y="13398627"/>
                  </a:lnTo>
                  <a:lnTo>
                    <a:pt x="28575" y="13370052"/>
                  </a:lnTo>
                  <a:lnTo>
                    <a:pt x="24025352" y="13370052"/>
                  </a:lnTo>
                  <a:lnTo>
                    <a:pt x="24025352" y="13398627"/>
                  </a:lnTo>
                  <a:lnTo>
                    <a:pt x="23996777" y="13398627"/>
                  </a:lnTo>
                  <a:lnTo>
                    <a:pt x="23996777" y="28575"/>
                  </a:lnTo>
                  <a:lnTo>
                    <a:pt x="24025352" y="28575"/>
                  </a:lnTo>
                  <a:lnTo>
                    <a:pt x="24025352" y="57150"/>
                  </a:lnTo>
                  <a:lnTo>
                    <a:pt x="28575" y="57150"/>
                  </a:lnTo>
                  <a:close/>
                </a:path>
              </a:pathLst>
            </a:custGeom>
            <a:solidFill>
              <a:srgbClr val="46B0F9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962250" y="844958"/>
            <a:ext cx="6661407" cy="1042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679"/>
              </a:lnSpc>
            </a:pPr>
            <a:r>
              <a:rPr lang="en-US" b="true" sz="8532" spc="-494">
                <a:solidFill>
                  <a:srgbClr val="101B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Objectives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962250" y="1913922"/>
            <a:ext cx="14332724" cy="7411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21351" indent="-360675" lvl="1">
              <a:lnSpc>
                <a:spcPts val="4143"/>
              </a:lnSpc>
              <a:buFont typeface="Arial"/>
              <a:buChar char="•"/>
            </a:pPr>
            <a:r>
              <a:rPr lang="en-US" sz="3341" spc="-21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To bu</a:t>
            </a:r>
            <a:r>
              <a:rPr lang="en-US" sz="3341" spc="-21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ild a supervised machine learning pipeline for credit default prediction using heterogeneous financial features.</a:t>
            </a:r>
          </a:p>
          <a:p>
            <a:pPr algn="just" marL="721351" indent="-360675" lvl="1">
              <a:lnSpc>
                <a:spcPts val="4143"/>
              </a:lnSpc>
              <a:buFont typeface="Arial"/>
              <a:buChar char="•"/>
            </a:pPr>
            <a:r>
              <a:rPr lang="en-US" sz="3341" spc="-21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To develop a probabilistic model that accurately estimates the Probability of Default (PD) for each borrower.</a:t>
            </a:r>
          </a:p>
          <a:p>
            <a:pPr algn="just" marL="721351" indent="-360675" lvl="1">
              <a:lnSpc>
                <a:spcPts val="4143"/>
              </a:lnSpc>
              <a:buFont typeface="Arial"/>
              <a:buChar char="•"/>
            </a:pPr>
            <a:r>
              <a:rPr lang="en-US" sz="3341" spc="-21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To e</a:t>
            </a:r>
            <a:r>
              <a:rPr lang="en-US" sz="3341" spc="-21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valuate model performance using discrimination metrics (Accuracy, ROC-AUC, Precision, Recall) and calibration metrics (Brier Score, Calibration Curve).</a:t>
            </a:r>
          </a:p>
          <a:p>
            <a:pPr algn="just" marL="721351" indent="-360675" lvl="1">
              <a:lnSpc>
                <a:spcPts val="4143"/>
              </a:lnSpc>
              <a:buFont typeface="Arial"/>
              <a:buChar char="•"/>
            </a:pPr>
            <a:r>
              <a:rPr lang="en-US" sz="3341" spc="-21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To incorporat</a:t>
            </a:r>
            <a:r>
              <a:rPr lang="en-US" sz="3341" spc="-21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 explainable AI techniques (e.g., SHAP) to provide transparent and interpretable credit risk predictions.</a:t>
            </a:r>
          </a:p>
          <a:p>
            <a:pPr algn="just" marL="721351" indent="-360675" lvl="1">
              <a:lnSpc>
                <a:spcPts val="4143"/>
              </a:lnSpc>
              <a:buFont typeface="Arial"/>
              <a:buChar char="•"/>
            </a:pPr>
            <a:r>
              <a:rPr lang="en-US" sz="3341" spc="-21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To design a risk scoring system that classifies borrowers into Low, Medium, and High credit risk categories based on predicted PD.</a:t>
            </a:r>
          </a:p>
          <a:p>
            <a:pPr algn="just" marL="721351" indent="-360675" lvl="1">
              <a:lnSpc>
                <a:spcPts val="4143"/>
              </a:lnSpc>
              <a:buFont typeface="Arial"/>
              <a:buChar char="•"/>
            </a:pPr>
            <a:r>
              <a:rPr lang="en-US" sz="3341" spc="-213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To develop a “Help Me Buddy” chatbot that assists customers by explaining credit decisions and suggesting practical steps to improve their loan eligibility or financial profile.</a:t>
            </a:r>
          </a:p>
          <a:p>
            <a:pPr algn="just">
              <a:lnSpc>
                <a:spcPts val="4143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077133" y="191729"/>
            <a:ext cx="2004384" cy="811159"/>
            <a:chOff x="0" y="0"/>
            <a:chExt cx="2672512" cy="1081545"/>
          </a:xfrm>
        </p:grpSpPr>
        <p:sp>
          <p:nvSpPr>
            <p:cNvPr name="Freeform 3" id="3" descr="A picture containing text, clipart  Description automatically generated"/>
            <p:cNvSpPr/>
            <p:nvPr/>
          </p:nvSpPr>
          <p:spPr>
            <a:xfrm flipH="false" flipV="false" rot="0">
              <a:off x="0" y="0"/>
              <a:ext cx="2672461" cy="1081532"/>
            </a:xfrm>
            <a:custGeom>
              <a:avLst/>
              <a:gdLst/>
              <a:ahLst/>
              <a:cxnLst/>
              <a:rect r="r" b="b" t="t" l="l"/>
              <a:pathLst>
                <a:path h="1081532" w="2672461">
                  <a:moveTo>
                    <a:pt x="0" y="0"/>
                  </a:moveTo>
                  <a:lnTo>
                    <a:pt x="2672461" y="0"/>
                  </a:lnTo>
                  <a:lnTo>
                    <a:pt x="2672461" y="1081532"/>
                  </a:lnTo>
                  <a:lnTo>
                    <a:pt x="0" y="10815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4695" r="-8057" b="-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3758" y="108314"/>
            <a:ext cx="18040483" cy="10070373"/>
            <a:chOff x="0" y="0"/>
            <a:chExt cx="24053978" cy="134271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053927" cy="13427202"/>
            </a:xfrm>
            <a:custGeom>
              <a:avLst/>
              <a:gdLst/>
              <a:ahLst/>
              <a:cxnLst/>
              <a:rect r="r" b="b" t="t" l="l"/>
              <a:pathLst>
                <a:path h="13427202" w="24053927">
                  <a:moveTo>
                    <a:pt x="28575" y="0"/>
                  </a:moveTo>
                  <a:lnTo>
                    <a:pt x="24025352" y="0"/>
                  </a:lnTo>
                  <a:cubicBezTo>
                    <a:pt x="24041100" y="0"/>
                    <a:pt x="24053927" y="12827"/>
                    <a:pt x="24053927" y="28575"/>
                  </a:cubicBezTo>
                  <a:lnTo>
                    <a:pt x="24053927" y="13398627"/>
                  </a:lnTo>
                  <a:cubicBezTo>
                    <a:pt x="24053927" y="13414375"/>
                    <a:pt x="24041100" y="13427202"/>
                    <a:pt x="24025352" y="13427202"/>
                  </a:cubicBezTo>
                  <a:lnTo>
                    <a:pt x="28575" y="13427202"/>
                  </a:lnTo>
                  <a:cubicBezTo>
                    <a:pt x="12827" y="13427202"/>
                    <a:pt x="0" y="13414375"/>
                    <a:pt x="0" y="13398627"/>
                  </a:cubicBezTo>
                  <a:lnTo>
                    <a:pt x="0" y="28575"/>
                  </a:lnTo>
                  <a:cubicBezTo>
                    <a:pt x="0" y="12827"/>
                    <a:pt x="12827" y="0"/>
                    <a:pt x="28575" y="0"/>
                  </a:cubicBezTo>
                  <a:moveTo>
                    <a:pt x="28575" y="57150"/>
                  </a:moveTo>
                  <a:lnTo>
                    <a:pt x="28575" y="28575"/>
                  </a:lnTo>
                  <a:lnTo>
                    <a:pt x="57150" y="28575"/>
                  </a:lnTo>
                  <a:lnTo>
                    <a:pt x="57150" y="13398627"/>
                  </a:lnTo>
                  <a:lnTo>
                    <a:pt x="28575" y="13398627"/>
                  </a:lnTo>
                  <a:lnTo>
                    <a:pt x="28575" y="13370052"/>
                  </a:lnTo>
                  <a:lnTo>
                    <a:pt x="24025352" y="13370052"/>
                  </a:lnTo>
                  <a:lnTo>
                    <a:pt x="24025352" y="13398627"/>
                  </a:lnTo>
                  <a:lnTo>
                    <a:pt x="23996777" y="13398627"/>
                  </a:lnTo>
                  <a:lnTo>
                    <a:pt x="23996777" y="28575"/>
                  </a:lnTo>
                  <a:lnTo>
                    <a:pt x="24025352" y="28575"/>
                  </a:lnTo>
                  <a:lnTo>
                    <a:pt x="24025352" y="57150"/>
                  </a:lnTo>
                  <a:lnTo>
                    <a:pt x="28575" y="57150"/>
                  </a:lnTo>
                  <a:close/>
                </a:path>
              </a:pathLst>
            </a:custGeom>
            <a:solidFill>
              <a:srgbClr val="46B0F9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419802" y="1932184"/>
            <a:ext cx="8724198" cy="6647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2"/>
              </a:lnSpc>
            </a:pPr>
            <a:r>
              <a:rPr lang="en-US" sz="2033" spc="-13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Demographic Information</a:t>
            </a:r>
          </a:p>
          <a:p>
            <a:pPr algn="just" marL="439134" indent="-219567" lvl="1">
              <a:lnSpc>
                <a:spcPts val="2522"/>
              </a:lnSpc>
              <a:buFont typeface="Arial"/>
              <a:buChar char="•"/>
            </a:pPr>
            <a:r>
              <a:rPr lang="en-US" sz="2033" spc="-13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Age of the applicant</a:t>
            </a:r>
          </a:p>
          <a:p>
            <a:pPr algn="just" marL="439134" indent="-219567" lvl="1">
              <a:lnSpc>
                <a:spcPts val="2522"/>
              </a:lnSpc>
              <a:buFont typeface="Arial"/>
              <a:buChar char="•"/>
            </a:pPr>
            <a:r>
              <a:rPr lang="en-US" sz="2033" spc="-13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Gender (if permitted and anonymized)</a:t>
            </a:r>
          </a:p>
          <a:p>
            <a:pPr algn="just" marL="439134" indent="-219567" lvl="1">
              <a:lnSpc>
                <a:spcPts val="2522"/>
              </a:lnSpc>
              <a:buFont typeface="Arial"/>
              <a:buChar char="•"/>
            </a:pPr>
            <a:r>
              <a:rPr lang="en-US" sz="2033" spc="-13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Marital status</a:t>
            </a:r>
          </a:p>
          <a:p>
            <a:pPr algn="just" marL="439134" indent="-219567" lvl="1">
              <a:lnSpc>
                <a:spcPts val="2522"/>
              </a:lnSpc>
              <a:buFont typeface="Arial"/>
              <a:buChar char="•"/>
            </a:pPr>
            <a:r>
              <a:rPr lang="en-US" sz="2033" spc="-13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Employment type (salaried/self-employed/unemployed)</a:t>
            </a:r>
          </a:p>
          <a:p>
            <a:pPr algn="just" marL="439134" indent="-219567" lvl="1">
              <a:lnSpc>
                <a:spcPts val="2522"/>
              </a:lnSpc>
              <a:buFont typeface="Arial"/>
              <a:buChar char="•"/>
            </a:pPr>
            <a:r>
              <a:rPr lang="en-US" sz="2033" spc="-13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Years of employment / job stability</a:t>
            </a:r>
          </a:p>
          <a:p>
            <a:pPr algn="just" marL="439134" indent="-219567" lvl="1">
              <a:lnSpc>
                <a:spcPts val="2522"/>
              </a:lnSpc>
              <a:buFont typeface="Arial"/>
              <a:buChar char="•"/>
            </a:pPr>
            <a:r>
              <a:rPr lang="en-US" sz="2033" spc="-13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Annual or monthly income</a:t>
            </a:r>
          </a:p>
          <a:p>
            <a:pPr algn="just">
              <a:lnSpc>
                <a:spcPts val="2522"/>
              </a:lnSpc>
            </a:pPr>
            <a:r>
              <a:rPr lang="en-US" sz="2033" spc="-13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Credit History</a:t>
            </a:r>
          </a:p>
          <a:p>
            <a:pPr algn="just" marL="439134" indent="-219567" lvl="1">
              <a:lnSpc>
                <a:spcPts val="2522"/>
              </a:lnSpc>
              <a:buFont typeface="Arial"/>
              <a:buChar char="•"/>
            </a:pPr>
            <a:r>
              <a:rPr lang="en-US" sz="2033" spc="-13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Number of past loans</a:t>
            </a:r>
          </a:p>
          <a:p>
            <a:pPr algn="just" marL="439134" indent="-219567" lvl="1">
              <a:lnSpc>
                <a:spcPts val="2522"/>
              </a:lnSpc>
              <a:buFont typeface="Arial"/>
              <a:buChar char="•"/>
            </a:pPr>
            <a:r>
              <a:rPr lang="en-US" sz="2033" spc="-13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History of previous defaults or late payments</a:t>
            </a:r>
          </a:p>
          <a:p>
            <a:pPr algn="just" marL="439134" indent="-219567" lvl="1">
              <a:lnSpc>
                <a:spcPts val="2522"/>
              </a:lnSpc>
              <a:buFont typeface="Arial"/>
              <a:buChar char="•"/>
            </a:pPr>
            <a:r>
              <a:rPr lang="en-US" sz="2033" spc="-13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Credit score or credit bureau rating</a:t>
            </a:r>
          </a:p>
          <a:p>
            <a:pPr algn="just" marL="439134" indent="-219567" lvl="1">
              <a:lnSpc>
                <a:spcPts val="2522"/>
              </a:lnSpc>
              <a:buFont typeface="Arial"/>
              <a:buChar char="•"/>
            </a:pPr>
            <a:r>
              <a:rPr lang="en-US" sz="2033" spc="-13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Credit utilization ratio (used credit vs available credit)</a:t>
            </a:r>
          </a:p>
          <a:p>
            <a:pPr algn="just" marL="439134" indent="-219567" lvl="1">
              <a:lnSpc>
                <a:spcPts val="2522"/>
              </a:lnSpc>
              <a:buFont typeface="Arial"/>
              <a:buChar char="•"/>
            </a:pPr>
            <a:r>
              <a:rPr lang="en-US" sz="2033" spc="-13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Length of credit history</a:t>
            </a:r>
          </a:p>
          <a:p>
            <a:pPr algn="just" marL="439134" indent="-219567" lvl="1">
              <a:lnSpc>
                <a:spcPts val="2522"/>
              </a:lnSpc>
              <a:buFont typeface="Arial"/>
              <a:buChar char="•"/>
            </a:pPr>
            <a:r>
              <a:rPr lang="en-US" sz="2033" spc="-13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Number of active credit accounts</a:t>
            </a:r>
          </a:p>
          <a:p>
            <a:pPr algn="just">
              <a:lnSpc>
                <a:spcPts val="2522"/>
              </a:lnSpc>
            </a:pPr>
            <a:r>
              <a:rPr lang="en-US" sz="2033" spc="-13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Loan Details</a:t>
            </a:r>
          </a:p>
          <a:p>
            <a:pPr algn="just" marL="439134" indent="-219567" lvl="1">
              <a:lnSpc>
                <a:spcPts val="2522"/>
              </a:lnSpc>
              <a:buFont typeface="Arial"/>
              <a:buChar char="•"/>
            </a:pPr>
            <a:r>
              <a:rPr lang="en-US" sz="2033" spc="-13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Loan amount sanctioned</a:t>
            </a:r>
          </a:p>
          <a:p>
            <a:pPr algn="just" marL="439134" indent="-219567" lvl="1">
              <a:lnSpc>
                <a:spcPts val="2522"/>
              </a:lnSpc>
              <a:buFont typeface="Arial"/>
              <a:buChar char="•"/>
            </a:pPr>
            <a:r>
              <a:rPr lang="en-US" sz="2033" spc="-13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Loan purpose (personal, home, vehicle, business, etc.)</a:t>
            </a:r>
          </a:p>
          <a:p>
            <a:pPr algn="just" marL="439134" indent="-219567" lvl="1">
              <a:lnSpc>
                <a:spcPts val="2522"/>
              </a:lnSpc>
              <a:buFont typeface="Arial"/>
              <a:buChar char="•"/>
            </a:pPr>
            <a:r>
              <a:rPr lang="en-US" sz="2033" spc="-13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Interest rate</a:t>
            </a:r>
          </a:p>
          <a:p>
            <a:pPr algn="just" marL="439134" indent="-219567" lvl="1">
              <a:lnSpc>
                <a:spcPts val="2522"/>
              </a:lnSpc>
              <a:buFont typeface="Arial"/>
              <a:buChar char="•"/>
            </a:pPr>
            <a:r>
              <a:rPr lang="en-US" sz="2033" spc="-13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Loan tenure (in months/years)</a:t>
            </a:r>
          </a:p>
          <a:p>
            <a:pPr algn="just" marL="439134" indent="-219567" lvl="1">
              <a:lnSpc>
                <a:spcPts val="2522"/>
              </a:lnSpc>
              <a:buFont typeface="Arial"/>
              <a:buChar char="•"/>
            </a:pPr>
            <a:r>
              <a:rPr lang="en-US" sz="2033" spc="-13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EMI amount</a:t>
            </a:r>
          </a:p>
          <a:p>
            <a:pPr algn="just" marL="439134" indent="-219567" lvl="1">
              <a:lnSpc>
                <a:spcPts val="2522"/>
              </a:lnSpc>
              <a:buFont typeface="Arial"/>
              <a:buChar char="•"/>
            </a:pPr>
            <a:r>
              <a:rPr lang="en-US" sz="2033" spc="-13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Collateral information (secured/unsecured loan)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19802" y="550966"/>
            <a:ext cx="9388534" cy="832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145"/>
              </a:lnSpc>
            </a:pPr>
            <a:r>
              <a:rPr lang="en-US" b="true" sz="6827" spc="-396">
                <a:solidFill>
                  <a:srgbClr val="101B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Dataset Description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928496" y="1645331"/>
            <a:ext cx="8150829" cy="5462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</a:p>
          <a:p>
            <a:pPr algn="l">
              <a:lnSpc>
                <a:spcPts val="2875"/>
              </a:lnSpc>
            </a:pPr>
            <a:r>
              <a:rPr lang="en-US" sz="2053" spc="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Behavioral &amp; Transactional Data</a:t>
            </a:r>
          </a:p>
          <a:p>
            <a:pPr algn="l" marL="443378" indent="-221689" lvl="1">
              <a:lnSpc>
                <a:spcPts val="2875"/>
              </a:lnSpc>
              <a:spcBef>
                <a:spcPct val="0"/>
              </a:spcBef>
              <a:buFont typeface="Arial"/>
              <a:buChar char="•"/>
            </a:pPr>
            <a:r>
              <a:rPr lang="en-US" sz="2053" spc="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</a:t>
            </a:r>
            <a:r>
              <a:rPr lang="en-US" sz="2053" spc="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onthly spending patterns</a:t>
            </a:r>
          </a:p>
          <a:p>
            <a:pPr algn="l" marL="443378" indent="-221689" lvl="1">
              <a:lnSpc>
                <a:spcPts val="2875"/>
              </a:lnSpc>
              <a:spcBef>
                <a:spcPct val="0"/>
              </a:spcBef>
              <a:buFont typeface="Arial"/>
              <a:buChar char="•"/>
            </a:pPr>
            <a:r>
              <a:rPr lang="en-US" sz="2053" spc="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Bank transaction frequency</a:t>
            </a:r>
          </a:p>
          <a:p>
            <a:pPr algn="l" marL="443378" indent="-221689" lvl="1">
              <a:lnSpc>
                <a:spcPts val="2875"/>
              </a:lnSpc>
              <a:spcBef>
                <a:spcPct val="0"/>
              </a:spcBef>
              <a:buFont typeface="Arial"/>
              <a:buChar char="•"/>
            </a:pPr>
            <a:r>
              <a:rPr lang="en-US" sz="2053" spc="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Savings balance trends</a:t>
            </a:r>
          </a:p>
          <a:p>
            <a:pPr algn="l" marL="443378" indent="-221689" lvl="1">
              <a:lnSpc>
                <a:spcPts val="2875"/>
              </a:lnSpc>
              <a:spcBef>
                <a:spcPct val="0"/>
              </a:spcBef>
              <a:buFont typeface="Arial"/>
              <a:buChar char="•"/>
            </a:pPr>
            <a:r>
              <a:rPr lang="en-US" sz="2053" spc="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Cash withdrawal behavior</a:t>
            </a:r>
          </a:p>
          <a:p>
            <a:pPr algn="l" marL="443378" indent="-221689" lvl="1">
              <a:lnSpc>
                <a:spcPts val="2875"/>
              </a:lnSpc>
              <a:spcBef>
                <a:spcPct val="0"/>
              </a:spcBef>
              <a:buFont typeface="Arial"/>
              <a:buChar char="•"/>
            </a:pPr>
            <a:r>
              <a:rPr lang="en-US" sz="2053" spc="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Payment regularity indicators</a:t>
            </a:r>
          </a:p>
          <a:p>
            <a:pPr algn="l" marL="443378" indent="-221689" lvl="1">
              <a:lnSpc>
                <a:spcPts val="2875"/>
              </a:lnSpc>
              <a:spcBef>
                <a:spcPct val="0"/>
              </a:spcBef>
              <a:buFont typeface="Arial"/>
              <a:buChar char="•"/>
            </a:pPr>
            <a:r>
              <a:rPr lang="en-US" sz="2053" spc="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Income vs expense ratio</a:t>
            </a:r>
          </a:p>
          <a:p>
            <a:pPr algn="l">
              <a:lnSpc>
                <a:spcPts val="2875"/>
              </a:lnSpc>
              <a:spcBef>
                <a:spcPct val="0"/>
              </a:spcBef>
            </a:pPr>
            <a:r>
              <a:rPr lang="en-US" sz="2053" spc="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2053" spc="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Data Characteristics</a:t>
            </a:r>
          </a:p>
          <a:p>
            <a:pPr algn="l" marL="443378" indent="-221689" lvl="1">
              <a:lnSpc>
                <a:spcPts val="2875"/>
              </a:lnSpc>
              <a:spcBef>
                <a:spcPct val="0"/>
              </a:spcBef>
              <a:buFont typeface="Arial"/>
              <a:buChar char="•"/>
            </a:pPr>
            <a:r>
              <a:rPr lang="en-US" sz="2053" spc="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Combination of numerical and categorical variables</a:t>
            </a:r>
          </a:p>
          <a:p>
            <a:pPr algn="l" marL="443378" indent="-221689" lvl="1">
              <a:lnSpc>
                <a:spcPts val="2875"/>
              </a:lnSpc>
              <a:spcBef>
                <a:spcPct val="0"/>
              </a:spcBef>
              <a:buFont typeface="Arial"/>
              <a:buChar char="•"/>
            </a:pPr>
            <a:r>
              <a:rPr lang="en-US" sz="2053" spc="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May contain missing values and class imbalance (defaults are usually fewer)</a:t>
            </a:r>
          </a:p>
          <a:p>
            <a:pPr algn="l" marL="443378" indent="-221689" lvl="1">
              <a:lnSpc>
                <a:spcPts val="2875"/>
              </a:lnSpc>
              <a:spcBef>
                <a:spcPct val="0"/>
              </a:spcBef>
              <a:buFont typeface="Arial"/>
              <a:buChar char="•"/>
            </a:pPr>
            <a:r>
              <a:rPr lang="en-US" sz="2053" spc="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Requires preprocessing such as encoding, scaling, and imbalance handling</a:t>
            </a:r>
          </a:p>
          <a:p>
            <a:pPr algn="l">
              <a:lnSpc>
                <a:spcPts val="287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077133" y="191729"/>
            <a:ext cx="2004384" cy="811159"/>
            <a:chOff x="0" y="0"/>
            <a:chExt cx="2672512" cy="1081545"/>
          </a:xfrm>
        </p:grpSpPr>
        <p:sp>
          <p:nvSpPr>
            <p:cNvPr name="Freeform 3" id="3" descr="A picture containing text, clipart  Description automatically generated"/>
            <p:cNvSpPr/>
            <p:nvPr/>
          </p:nvSpPr>
          <p:spPr>
            <a:xfrm flipH="false" flipV="false" rot="0">
              <a:off x="0" y="0"/>
              <a:ext cx="2672461" cy="1081532"/>
            </a:xfrm>
            <a:custGeom>
              <a:avLst/>
              <a:gdLst/>
              <a:ahLst/>
              <a:cxnLst/>
              <a:rect r="r" b="b" t="t" l="l"/>
              <a:pathLst>
                <a:path h="1081532" w="2672461">
                  <a:moveTo>
                    <a:pt x="0" y="0"/>
                  </a:moveTo>
                  <a:lnTo>
                    <a:pt x="2672461" y="0"/>
                  </a:lnTo>
                  <a:lnTo>
                    <a:pt x="2672461" y="1081532"/>
                  </a:lnTo>
                  <a:lnTo>
                    <a:pt x="0" y="10815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4695" r="-8057" b="-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6844" y="108318"/>
            <a:ext cx="18040483" cy="10070373"/>
            <a:chOff x="0" y="0"/>
            <a:chExt cx="24053978" cy="134271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053927" cy="13427202"/>
            </a:xfrm>
            <a:custGeom>
              <a:avLst/>
              <a:gdLst/>
              <a:ahLst/>
              <a:cxnLst/>
              <a:rect r="r" b="b" t="t" l="l"/>
              <a:pathLst>
                <a:path h="13427202" w="24053927">
                  <a:moveTo>
                    <a:pt x="28575" y="0"/>
                  </a:moveTo>
                  <a:lnTo>
                    <a:pt x="24025352" y="0"/>
                  </a:lnTo>
                  <a:cubicBezTo>
                    <a:pt x="24041100" y="0"/>
                    <a:pt x="24053927" y="12827"/>
                    <a:pt x="24053927" y="28575"/>
                  </a:cubicBezTo>
                  <a:lnTo>
                    <a:pt x="24053927" y="13398627"/>
                  </a:lnTo>
                  <a:cubicBezTo>
                    <a:pt x="24053927" y="13414375"/>
                    <a:pt x="24041100" y="13427202"/>
                    <a:pt x="24025352" y="13427202"/>
                  </a:cubicBezTo>
                  <a:lnTo>
                    <a:pt x="28575" y="13427202"/>
                  </a:lnTo>
                  <a:cubicBezTo>
                    <a:pt x="12827" y="13427202"/>
                    <a:pt x="0" y="13414375"/>
                    <a:pt x="0" y="13398627"/>
                  </a:cubicBezTo>
                  <a:lnTo>
                    <a:pt x="0" y="28575"/>
                  </a:lnTo>
                  <a:cubicBezTo>
                    <a:pt x="0" y="12827"/>
                    <a:pt x="12827" y="0"/>
                    <a:pt x="28575" y="0"/>
                  </a:cubicBezTo>
                  <a:moveTo>
                    <a:pt x="28575" y="57150"/>
                  </a:moveTo>
                  <a:lnTo>
                    <a:pt x="28575" y="28575"/>
                  </a:lnTo>
                  <a:lnTo>
                    <a:pt x="57150" y="28575"/>
                  </a:lnTo>
                  <a:lnTo>
                    <a:pt x="57150" y="13398627"/>
                  </a:lnTo>
                  <a:lnTo>
                    <a:pt x="28575" y="13398627"/>
                  </a:lnTo>
                  <a:lnTo>
                    <a:pt x="28575" y="13370052"/>
                  </a:lnTo>
                  <a:lnTo>
                    <a:pt x="24025352" y="13370052"/>
                  </a:lnTo>
                  <a:lnTo>
                    <a:pt x="24025352" y="13398627"/>
                  </a:lnTo>
                  <a:lnTo>
                    <a:pt x="23996777" y="13398627"/>
                  </a:lnTo>
                  <a:lnTo>
                    <a:pt x="23996777" y="28575"/>
                  </a:lnTo>
                  <a:lnTo>
                    <a:pt x="24025352" y="28575"/>
                  </a:lnTo>
                  <a:lnTo>
                    <a:pt x="24025352" y="57150"/>
                  </a:lnTo>
                  <a:lnTo>
                    <a:pt x="28575" y="57150"/>
                  </a:lnTo>
                  <a:close/>
                </a:path>
              </a:pathLst>
            </a:custGeom>
            <a:solidFill>
              <a:srgbClr val="46B0F9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521795" y="631343"/>
            <a:ext cx="6910031" cy="1042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679"/>
              </a:lnSpc>
            </a:pPr>
            <a:r>
              <a:rPr lang="en-US" b="true" sz="8532" spc="-494">
                <a:solidFill>
                  <a:srgbClr val="101B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Methodology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21795" y="1607032"/>
            <a:ext cx="17766205" cy="9035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0"/>
              </a:lnSpc>
            </a:pPr>
            <a:r>
              <a:rPr lang="en-US" sz="2524" spc="-161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Step 1: Literature Review</a:t>
            </a:r>
          </a:p>
          <a:p>
            <a:pPr algn="l">
              <a:lnSpc>
                <a:spcPts val="3130"/>
              </a:lnSpc>
            </a:pPr>
            <a:r>
              <a:rPr lang="en-US" sz="2524" spc="-16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Study credit risk models, probability calibration, explainable AI, and conversational AI/chatbot systems used in financial services.</a:t>
            </a:r>
          </a:p>
          <a:p>
            <a:pPr algn="l">
              <a:lnSpc>
                <a:spcPts val="3130"/>
              </a:lnSpc>
            </a:pPr>
            <a:r>
              <a:rPr lang="en-US" sz="2524" spc="-161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Step 2: Requirement Identification</a:t>
            </a:r>
          </a:p>
          <a:p>
            <a:pPr algn="l">
              <a:lnSpc>
                <a:spcPts val="3130"/>
              </a:lnSpc>
            </a:pPr>
            <a:r>
              <a:rPr lang="en-US" sz="2524" spc="-16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Select structured financial dataset and define system needs including risk prediction, explainability, and a user-support chatbot.</a:t>
            </a:r>
          </a:p>
          <a:p>
            <a:pPr algn="l">
              <a:lnSpc>
                <a:spcPts val="3130"/>
              </a:lnSpc>
            </a:pPr>
            <a:r>
              <a:rPr lang="en-US" sz="2524" spc="-161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Step 3: Algorithm Selection</a:t>
            </a:r>
          </a:p>
          <a:p>
            <a:pPr algn="l">
              <a:lnSpc>
                <a:spcPts val="3130"/>
              </a:lnSpc>
            </a:pPr>
            <a:r>
              <a:rPr lang="en-US" sz="2524" spc="-16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Choose Logistic Regression, Random Forest, and Gradient Boosting for PD prediction; select NLP/Rule-based framework for chatbot assistance.</a:t>
            </a:r>
          </a:p>
          <a:p>
            <a:pPr algn="l">
              <a:lnSpc>
                <a:spcPts val="3130"/>
              </a:lnSpc>
            </a:pPr>
            <a:r>
              <a:rPr lang="en-US" sz="2524" spc="-161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Step 4: Comparative Study</a:t>
            </a:r>
          </a:p>
          <a:p>
            <a:pPr algn="l">
              <a:lnSpc>
                <a:spcPts val="3130"/>
              </a:lnSpc>
            </a:pPr>
            <a:r>
              <a:rPr lang="en-US" sz="2524" spc="-16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Compare ML models based on ROC-AUC, Precision, Recall, and probability calibration performance.</a:t>
            </a:r>
          </a:p>
          <a:p>
            <a:pPr algn="l">
              <a:lnSpc>
                <a:spcPts val="3130"/>
              </a:lnSpc>
            </a:pPr>
            <a:r>
              <a:rPr lang="en-US" sz="2524" spc="-161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Step 5: System Design</a:t>
            </a:r>
          </a:p>
          <a:p>
            <a:pPr algn="l">
              <a:lnSpc>
                <a:spcPts val="3130"/>
              </a:lnSpc>
            </a:pPr>
            <a:r>
              <a:rPr lang="en-US" sz="2524" spc="-16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Design integrated architecture with:</a:t>
            </a:r>
          </a:p>
          <a:p>
            <a:pPr algn="l" marL="544993" indent="-272496" lvl="1">
              <a:lnSpc>
                <a:spcPts val="3130"/>
              </a:lnSpc>
              <a:buFont typeface="Arial"/>
              <a:buChar char="•"/>
            </a:pPr>
            <a:r>
              <a:rPr lang="en-US" sz="2524" spc="-16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Data preprocessing &amp; feature engineering module</a:t>
            </a:r>
          </a:p>
          <a:p>
            <a:pPr algn="l" marL="544993" indent="-272496" lvl="1">
              <a:lnSpc>
                <a:spcPts val="3130"/>
              </a:lnSpc>
              <a:buFont typeface="Arial"/>
              <a:buChar char="•"/>
            </a:pPr>
            <a:r>
              <a:rPr lang="en-US" sz="2524" spc="-16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Credit risk prediction &amp; calibration module</a:t>
            </a:r>
          </a:p>
          <a:p>
            <a:pPr algn="l" marL="544993" indent="-272496" lvl="1">
              <a:lnSpc>
                <a:spcPts val="3130"/>
              </a:lnSpc>
              <a:buFont typeface="Arial"/>
              <a:buChar char="•"/>
            </a:pPr>
            <a:r>
              <a:rPr lang="en-US" sz="2524" spc="-16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Explainability module (SHAP)</a:t>
            </a:r>
          </a:p>
          <a:p>
            <a:pPr algn="l" marL="544993" indent="-272496" lvl="1">
              <a:lnSpc>
                <a:spcPts val="3130"/>
              </a:lnSpc>
              <a:buFont typeface="Arial"/>
              <a:buChar char="•"/>
            </a:pPr>
            <a:r>
              <a:rPr lang="en-US" sz="2524" spc="-16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Help-Me-Buddy Chatbot module for customer guidance</a:t>
            </a:r>
          </a:p>
          <a:p>
            <a:pPr algn="l">
              <a:lnSpc>
                <a:spcPts val="3130"/>
              </a:lnSpc>
            </a:pPr>
            <a:r>
              <a:rPr lang="en-US" sz="2524" spc="-161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Step 6: Implementation</a:t>
            </a:r>
          </a:p>
          <a:p>
            <a:pPr algn="l">
              <a:lnSpc>
                <a:spcPts val="3130"/>
              </a:lnSpc>
            </a:pPr>
            <a:r>
              <a:rPr lang="en-US" sz="2524" spc="-16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Implement ML pipeline for prediction and SHAP explanations; develop chatbot to:</a:t>
            </a:r>
          </a:p>
          <a:p>
            <a:pPr algn="l" marL="544993" indent="-272496" lvl="1">
              <a:lnSpc>
                <a:spcPts val="3130"/>
              </a:lnSpc>
              <a:buFont typeface="Arial"/>
              <a:buChar char="•"/>
            </a:pPr>
            <a:r>
              <a:rPr lang="en-US" sz="2524" spc="-16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Explain loan rejection reasons</a:t>
            </a:r>
          </a:p>
          <a:p>
            <a:pPr algn="l" marL="544993" indent="-272496" lvl="1">
              <a:lnSpc>
                <a:spcPts val="3130"/>
              </a:lnSpc>
              <a:buFont typeface="Arial"/>
              <a:buChar char="•"/>
            </a:pPr>
            <a:r>
              <a:rPr lang="en-US" sz="2524" spc="-16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Suggest ways to improve credit eligibility (reduce debt, improve repayment history, etc.)</a:t>
            </a:r>
          </a:p>
          <a:p>
            <a:pPr algn="l" marL="544993" indent="-272496" lvl="1">
              <a:lnSpc>
                <a:spcPts val="3130"/>
              </a:lnSpc>
              <a:buFont typeface="Arial"/>
              <a:buChar char="•"/>
            </a:pPr>
            <a:r>
              <a:rPr lang="en-US" sz="2524" spc="-16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Answer common loan-related queries</a:t>
            </a:r>
          </a:p>
          <a:p>
            <a:pPr algn="l">
              <a:lnSpc>
                <a:spcPts val="3130"/>
              </a:lnSpc>
            </a:pPr>
            <a:r>
              <a:rPr lang="en-US" sz="2524" spc="-161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Step 7: Results</a:t>
            </a:r>
          </a:p>
          <a:p>
            <a:pPr algn="l">
              <a:lnSpc>
                <a:spcPts val="3130"/>
              </a:lnSpc>
            </a:pPr>
            <a:r>
              <a:rPr lang="en-US" sz="2524" spc="-16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Evaluate model using discrimination and calibration metrics; assess chatbot effectiveness in providing understandable guidance and improving user experience.</a:t>
            </a:r>
          </a:p>
          <a:p>
            <a:pPr algn="l">
              <a:lnSpc>
                <a:spcPts val="3130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59322" y="191729"/>
            <a:ext cx="17587469" cy="9603920"/>
            <a:chOff x="0" y="0"/>
            <a:chExt cx="4632091" cy="25294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32091" cy="2529427"/>
            </a:xfrm>
            <a:custGeom>
              <a:avLst/>
              <a:gdLst/>
              <a:ahLst/>
              <a:cxnLst/>
              <a:rect r="r" b="b" t="t" l="l"/>
              <a:pathLst>
                <a:path h="2529427" w="4632091">
                  <a:moveTo>
                    <a:pt x="22450" y="0"/>
                  </a:moveTo>
                  <a:lnTo>
                    <a:pt x="4609641" y="0"/>
                  </a:lnTo>
                  <a:cubicBezTo>
                    <a:pt x="4615595" y="0"/>
                    <a:pt x="4621305" y="2365"/>
                    <a:pt x="4625515" y="6575"/>
                  </a:cubicBezTo>
                  <a:cubicBezTo>
                    <a:pt x="4629725" y="10786"/>
                    <a:pt x="4632091" y="16496"/>
                    <a:pt x="4632091" y="22450"/>
                  </a:cubicBezTo>
                  <a:lnTo>
                    <a:pt x="4632091" y="2506977"/>
                  </a:lnTo>
                  <a:cubicBezTo>
                    <a:pt x="4632091" y="2519376"/>
                    <a:pt x="4622039" y="2529427"/>
                    <a:pt x="4609641" y="2529427"/>
                  </a:cubicBezTo>
                  <a:lnTo>
                    <a:pt x="22450" y="2529427"/>
                  </a:lnTo>
                  <a:cubicBezTo>
                    <a:pt x="10051" y="2529427"/>
                    <a:pt x="0" y="2519376"/>
                    <a:pt x="0" y="2506977"/>
                  </a:cubicBezTo>
                  <a:lnTo>
                    <a:pt x="0" y="22450"/>
                  </a:lnTo>
                  <a:cubicBezTo>
                    <a:pt x="0" y="10051"/>
                    <a:pt x="10051" y="0"/>
                    <a:pt x="22450" y="0"/>
                  </a:cubicBezTo>
                  <a:close/>
                </a:path>
              </a:pathLst>
            </a:custGeom>
            <a:solidFill>
              <a:srgbClr val="DCE2E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32091" cy="25675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077133" y="191729"/>
            <a:ext cx="2004384" cy="811159"/>
            <a:chOff x="0" y="0"/>
            <a:chExt cx="2672512" cy="1081545"/>
          </a:xfrm>
        </p:grpSpPr>
        <p:sp>
          <p:nvSpPr>
            <p:cNvPr name="Freeform 6" id="6" descr="A picture containing text, clipart  Description automatically generated"/>
            <p:cNvSpPr/>
            <p:nvPr/>
          </p:nvSpPr>
          <p:spPr>
            <a:xfrm flipH="false" flipV="false" rot="0">
              <a:off x="0" y="0"/>
              <a:ext cx="2672461" cy="1081532"/>
            </a:xfrm>
            <a:custGeom>
              <a:avLst/>
              <a:gdLst/>
              <a:ahLst/>
              <a:cxnLst/>
              <a:rect r="r" b="b" t="t" l="l"/>
              <a:pathLst>
                <a:path h="1081532" w="2672461">
                  <a:moveTo>
                    <a:pt x="0" y="0"/>
                  </a:moveTo>
                  <a:lnTo>
                    <a:pt x="2672461" y="0"/>
                  </a:lnTo>
                  <a:lnTo>
                    <a:pt x="2672461" y="1081532"/>
                  </a:lnTo>
                  <a:lnTo>
                    <a:pt x="0" y="10815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4695" r="-8057" b="-2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23758" y="99427"/>
            <a:ext cx="18040483" cy="10070373"/>
            <a:chOff x="0" y="0"/>
            <a:chExt cx="24053978" cy="1342716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053927" cy="13427202"/>
            </a:xfrm>
            <a:custGeom>
              <a:avLst/>
              <a:gdLst/>
              <a:ahLst/>
              <a:cxnLst/>
              <a:rect r="r" b="b" t="t" l="l"/>
              <a:pathLst>
                <a:path h="13427202" w="24053927">
                  <a:moveTo>
                    <a:pt x="28575" y="0"/>
                  </a:moveTo>
                  <a:lnTo>
                    <a:pt x="24025352" y="0"/>
                  </a:lnTo>
                  <a:cubicBezTo>
                    <a:pt x="24041100" y="0"/>
                    <a:pt x="24053927" y="12827"/>
                    <a:pt x="24053927" y="28575"/>
                  </a:cubicBezTo>
                  <a:lnTo>
                    <a:pt x="24053927" y="13398627"/>
                  </a:lnTo>
                  <a:cubicBezTo>
                    <a:pt x="24053927" y="13414375"/>
                    <a:pt x="24041100" y="13427202"/>
                    <a:pt x="24025352" y="13427202"/>
                  </a:cubicBezTo>
                  <a:lnTo>
                    <a:pt x="28575" y="13427202"/>
                  </a:lnTo>
                  <a:cubicBezTo>
                    <a:pt x="12827" y="13427202"/>
                    <a:pt x="0" y="13414375"/>
                    <a:pt x="0" y="13398627"/>
                  </a:cubicBezTo>
                  <a:lnTo>
                    <a:pt x="0" y="28575"/>
                  </a:lnTo>
                  <a:cubicBezTo>
                    <a:pt x="0" y="12827"/>
                    <a:pt x="12827" y="0"/>
                    <a:pt x="28575" y="0"/>
                  </a:cubicBezTo>
                  <a:moveTo>
                    <a:pt x="28575" y="57150"/>
                  </a:moveTo>
                  <a:lnTo>
                    <a:pt x="28575" y="28575"/>
                  </a:lnTo>
                  <a:lnTo>
                    <a:pt x="57150" y="28575"/>
                  </a:lnTo>
                  <a:lnTo>
                    <a:pt x="57150" y="13398627"/>
                  </a:lnTo>
                  <a:lnTo>
                    <a:pt x="28575" y="13398627"/>
                  </a:lnTo>
                  <a:lnTo>
                    <a:pt x="28575" y="13370052"/>
                  </a:lnTo>
                  <a:lnTo>
                    <a:pt x="24025352" y="13370052"/>
                  </a:lnTo>
                  <a:lnTo>
                    <a:pt x="24025352" y="13398627"/>
                  </a:lnTo>
                  <a:lnTo>
                    <a:pt x="23996777" y="13398627"/>
                  </a:lnTo>
                  <a:lnTo>
                    <a:pt x="23996777" y="28575"/>
                  </a:lnTo>
                  <a:lnTo>
                    <a:pt x="24025352" y="28575"/>
                  </a:lnTo>
                  <a:lnTo>
                    <a:pt x="24025352" y="57150"/>
                  </a:lnTo>
                  <a:lnTo>
                    <a:pt x="28575" y="57150"/>
                  </a:lnTo>
                  <a:close/>
                </a:path>
              </a:pathLst>
            </a:custGeom>
            <a:solidFill>
              <a:srgbClr val="46B0F9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6465001" y="8346801"/>
            <a:ext cx="1822999" cy="1822999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1F1F1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035435" y="8917235"/>
            <a:ext cx="682130" cy="682130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FA4C1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701289" y="5346068"/>
            <a:ext cx="4466895" cy="4253297"/>
            <a:chOff x="0" y="0"/>
            <a:chExt cx="1176466" cy="112021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76466" cy="1120210"/>
            </a:xfrm>
            <a:custGeom>
              <a:avLst/>
              <a:gdLst/>
              <a:ahLst/>
              <a:cxnLst/>
              <a:rect r="r" b="b" t="t" l="l"/>
              <a:pathLst>
                <a:path h="1120210" w="1176466">
                  <a:moveTo>
                    <a:pt x="88392" y="0"/>
                  </a:moveTo>
                  <a:lnTo>
                    <a:pt x="1088074" y="0"/>
                  </a:lnTo>
                  <a:cubicBezTo>
                    <a:pt x="1111517" y="0"/>
                    <a:pt x="1134000" y="9313"/>
                    <a:pt x="1150577" y="25889"/>
                  </a:cubicBezTo>
                  <a:cubicBezTo>
                    <a:pt x="1167154" y="42466"/>
                    <a:pt x="1176466" y="64949"/>
                    <a:pt x="1176466" y="88392"/>
                  </a:cubicBezTo>
                  <a:lnTo>
                    <a:pt x="1176466" y="1031818"/>
                  </a:lnTo>
                  <a:cubicBezTo>
                    <a:pt x="1176466" y="1055261"/>
                    <a:pt x="1167154" y="1077744"/>
                    <a:pt x="1150577" y="1094321"/>
                  </a:cubicBezTo>
                  <a:cubicBezTo>
                    <a:pt x="1134000" y="1110897"/>
                    <a:pt x="1111517" y="1120210"/>
                    <a:pt x="1088074" y="1120210"/>
                  </a:cubicBezTo>
                  <a:lnTo>
                    <a:pt x="88392" y="1120210"/>
                  </a:lnTo>
                  <a:cubicBezTo>
                    <a:pt x="64949" y="1120210"/>
                    <a:pt x="42466" y="1110897"/>
                    <a:pt x="25889" y="1094321"/>
                  </a:cubicBezTo>
                  <a:cubicBezTo>
                    <a:pt x="9313" y="1077744"/>
                    <a:pt x="0" y="1055261"/>
                    <a:pt x="0" y="1031818"/>
                  </a:cubicBezTo>
                  <a:lnTo>
                    <a:pt x="0" y="88392"/>
                  </a:lnTo>
                  <a:cubicBezTo>
                    <a:pt x="0" y="64949"/>
                    <a:pt x="9313" y="42466"/>
                    <a:pt x="25889" y="25889"/>
                  </a:cubicBezTo>
                  <a:cubicBezTo>
                    <a:pt x="42466" y="9313"/>
                    <a:pt x="64949" y="0"/>
                    <a:pt x="88392" y="0"/>
                  </a:cubicBezTo>
                  <a:close/>
                </a:path>
              </a:pathLst>
            </a:custGeom>
            <a:solidFill>
              <a:srgbClr val="8FA4C1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176466" cy="1158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701289" y="1028700"/>
            <a:ext cx="4466895" cy="4114800"/>
            <a:chOff x="0" y="0"/>
            <a:chExt cx="1176466" cy="108373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76466" cy="1083733"/>
            </a:xfrm>
            <a:custGeom>
              <a:avLst/>
              <a:gdLst/>
              <a:ahLst/>
              <a:cxnLst/>
              <a:rect r="r" b="b" t="t" l="l"/>
              <a:pathLst>
                <a:path h="1083733" w="1176466">
                  <a:moveTo>
                    <a:pt x="88392" y="0"/>
                  </a:moveTo>
                  <a:lnTo>
                    <a:pt x="1088074" y="0"/>
                  </a:lnTo>
                  <a:cubicBezTo>
                    <a:pt x="1111517" y="0"/>
                    <a:pt x="1134000" y="9313"/>
                    <a:pt x="1150577" y="25889"/>
                  </a:cubicBezTo>
                  <a:cubicBezTo>
                    <a:pt x="1167154" y="42466"/>
                    <a:pt x="1176466" y="64949"/>
                    <a:pt x="1176466" y="88392"/>
                  </a:cubicBezTo>
                  <a:lnTo>
                    <a:pt x="1176466" y="995341"/>
                  </a:lnTo>
                  <a:cubicBezTo>
                    <a:pt x="1176466" y="1018784"/>
                    <a:pt x="1167154" y="1041267"/>
                    <a:pt x="1150577" y="1057844"/>
                  </a:cubicBezTo>
                  <a:cubicBezTo>
                    <a:pt x="1134000" y="1074421"/>
                    <a:pt x="1111517" y="1083733"/>
                    <a:pt x="1088074" y="1083733"/>
                  </a:cubicBezTo>
                  <a:lnTo>
                    <a:pt x="88392" y="1083733"/>
                  </a:lnTo>
                  <a:cubicBezTo>
                    <a:pt x="64949" y="1083733"/>
                    <a:pt x="42466" y="1074421"/>
                    <a:pt x="25889" y="1057844"/>
                  </a:cubicBezTo>
                  <a:cubicBezTo>
                    <a:pt x="9313" y="1041267"/>
                    <a:pt x="0" y="1018784"/>
                    <a:pt x="0" y="995341"/>
                  </a:cubicBezTo>
                  <a:lnTo>
                    <a:pt x="0" y="88392"/>
                  </a:lnTo>
                  <a:cubicBezTo>
                    <a:pt x="0" y="64949"/>
                    <a:pt x="9313" y="42466"/>
                    <a:pt x="25889" y="25889"/>
                  </a:cubicBezTo>
                  <a:cubicBezTo>
                    <a:pt x="42466" y="9313"/>
                    <a:pt x="64949" y="0"/>
                    <a:pt x="88392" y="0"/>
                  </a:cubicBezTo>
                  <a:close/>
                </a:path>
              </a:pathLst>
            </a:custGeom>
            <a:solidFill>
              <a:srgbClr val="8FA4C1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176466" cy="11218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315495" y="1028700"/>
            <a:ext cx="4615145" cy="4114800"/>
            <a:chOff x="0" y="0"/>
            <a:chExt cx="1215512" cy="108373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15511" cy="1083733"/>
            </a:xfrm>
            <a:custGeom>
              <a:avLst/>
              <a:gdLst/>
              <a:ahLst/>
              <a:cxnLst/>
              <a:rect r="r" b="b" t="t" l="l"/>
              <a:pathLst>
                <a:path h="1083733" w="1215511">
                  <a:moveTo>
                    <a:pt x="85553" y="0"/>
                  </a:moveTo>
                  <a:lnTo>
                    <a:pt x="1129959" y="0"/>
                  </a:lnTo>
                  <a:cubicBezTo>
                    <a:pt x="1152649" y="0"/>
                    <a:pt x="1174409" y="9014"/>
                    <a:pt x="1190454" y="25058"/>
                  </a:cubicBezTo>
                  <a:cubicBezTo>
                    <a:pt x="1206498" y="41102"/>
                    <a:pt x="1215511" y="62863"/>
                    <a:pt x="1215511" y="85553"/>
                  </a:cubicBezTo>
                  <a:lnTo>
                    <a:pt x="1215511" y="998181"/>
                  </a:lnTo>
                  <a:cubicBezTo>
                    <a:pt x="1215511" y="1020871"/>
                    <a:pt x="1206498" y="1042631"/>
                    <a:pt x="1190454" y="1058676"/>
                  </a:cubicBezTo>
                  <a:cubicBezTo>
                    <a:pt x="1174409" y="1074720"/>
                    <a:pt x="1152649" y="1083733"/>
                    <a:pt x="1129959" y="1083733"/>
                  </a:cubicBezTo>
                  <a:lnTo>
                    <a:pt x="85553" y="1083733"/>
                  </a:lnTo>
                  <a:cubicBezTo>
                    <a:pt x="38303" y="1083733"/>
                    <a:pt x="0" y="1045430"/>
                    <a:pt x="0" y="998181"/>
                  </a:cubicBezTo>
                  <a:lnTo>
                    <a:pt x="0" y="85553"/>
                  </a:lnTo>
                  <a:cubicBezTo>
                    <a:pt x="0" y="62863"/>
                    <a:pt x="9014" y="41102"/>
                    <a:pt x="25058" y="25058"/>
                  </a:cubicBezTo>
                  <a:cubicBezTo>
                    <a:pt x="41102" y="9014"/>
                    <a:pt x="62863" y="0"/>
                    <a:pt x="85553" y="0"/>
                  </a:cubicBezTo>
                  <a:close/>
                </a:path>
              </a:pathLst>
            </a:custGeom>
            <a:solidFill>
              <a:srgbClr val="8FA4C1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215512" cy="11218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459322" y="3206486"/>
            <a:ext cx="6587373" cy="3968222"/>
          </a:xfrm>
          <a:custGeom>
            <a:avLst/>
            <a:gdLst/>
            <a:ahLst/>
            <a:cxnLst/>
            <a:rect r="r" b="b" t="t" l="l"/>
            <a:pathLst>
              <a:path h="3968222" w="6587373">
                <a:moveTo>
                  <a:pt x="0" y="0"/>
                </a:moveTo>
                <a:lnTo>
                  <a:pt x="6587373" y="0"/>
                </a:lnTo>
                <a:lnTo>
                  <a:pt x="6587373" y="3968221"/>
                </a:lnTo>
                <a:lnTo>
                  <a:pt x="0" y="39682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1596" r="-4156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683566" y="1676249"/>
            <a:ext cx="9164670" cy="832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145"/>
              </a:lnSpc>
            </a:pPr>
            <a:r>
              <a:rPr lang="en-US" b="true" sz="6827" spc="-396">
                <a:solidFill>
                  <a:srgbClr val="101B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SWOT Analysis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784111" y="1191863"/>
            <a:ext cx="4191438" cy="441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593" spc="-184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STRENGTHS</a:t>
            </a:r>
          </a:p>
          <a:p>
            <a:pPr algn="l" marL="495082" indent="-247541" lvl="1">
              <a:lnSpc>
                <a:spcPts val="2476"/>
              </a:lnSpc>
              <a:buFont typeface="Arial"/>
              <a:buChar char="•"/>
            </a:pPr>
            <a:r>
              <a:rPr lang="en-US" sz="2293" spc="-162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USES DIVERSE FINANCIAL DATA</a:t>
            </a:r>
          </a:p>
          <a:p>
            <a:pPr algn="l" marL="495082" indent="-247541" lvl="1">
              <a:lnSpc>
                <a:spcPts val="2476"/>
              </a:lnSpc>
              <a:buFont typeface="Arial"/>
              <a:buChar char="•"/>
            </a:pPr>
            <a:r>
              <a:rPr lang="en-US" sz="2293" spc="-162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PROVIDES PROBABILISTIC AND EXPLAINABLE RESULTS</a:t>
            </a:r>
          </a:p>
          <a:p>
            <a:pPr algn="l" marL="495082" indent="-247541" lvl="1">
              <a:lnSpc>
                <a:spcPts val="2476"/>
              </a:lnSpc>
              <a:buFont typeface="Arial"/>
              <a:buChar char="•"/>
            </a:pPr>
            <a:r>
              <a:rPr lang="en-US" sz="2293" spc="-162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IMPROVES ACCURACY OVER TRADITIONAL CREDIT SCORING</a:t>
            </a:r>
          </a:p>
          <a:p>
            <a:pPr algn="l" marL="495082" indent="-247541" lvl="1">
              <a:lnSpc>
                <a:spcPts val="2476"/>
              </a:lnSpc>
              <a:buFont typeface="Arial"/>
              <a:buChar char="•"/>
            </a:pPr>
            <a:r>
              <a:rPr lang="en-US" sz="2293" spc="-162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SUPPORTS RISK-BASED DECISION MAKING WITH CALIBRATED PD</a:t>
            </a:r>
          </a:p>
          <a:p>
            <a:pPr algn="l">
              <a:lnSpc>
                <a:spcPts val="4194"/>
              </a:lnSpc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7701289" y="5460080"/>
            <a:ext cx="4531385" cy="4335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9"/>
              </a:lnSpc>
            </a:pPr>
            <a:r>
              <a:rPr lang="en-US" b="true" sz="2861" spc="-203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OPPORTUNITIES</a:t>
            </a:r>
          </a:p>
          <a:p>
            <a:pPr algn="l" marL="509766" indent="-254883" lvl="1">
              <a:lnSpc>
                <a:spcPts val="2550"/>
              </a:lnSpc>
              <a:buFont typeface="Arial"/>
              <a:buChar char="•"/>
            </a:pPr>
            <a:r>
              <a:rPr lang="en-US" sz="2361" spc="-167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Use</a:t>
            </a:r>
            <a:r>
              <a:rPr lang="en-US" sz="2361" spc="-167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FUL FOR BANKS, FINTECH, DIGITAL LENDING</a:t>
            </a:r>
          </a:p>
          <a:p>
            <a:pPr algn="l" marL="509766" indent="-254883" lvl="1">
              <a:lnSpc>
                <a:spcPts val="2550"/>
              </a:lnSpc>
              <a:buFont typeface="Arial"/>
              <a:buChar char="•"/>
            </a:pPr>
            <a:r>
              <a:rPr lang="en-US" sz="2361" spc="-167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CAN SUPPORT AUTOMATED LOAN APPROVAL</a:t>
            </a:r>
          </a:p>
          <a:p>
            <a:pPr algn="l" marL="509766" indent="-254883" lvl="1">
              <a:lnSpc>
                <a:spcPts val="2550"/>
              </a:lnSpc>
              <a:buFont typeface="Arial"/>
              <a:buChar char="•"/>
            </a:pPr>
            <a:r>
              <a:rPr lang="en-US" sz="2361" spc="-167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CAN BE EXTENDED TO REAL-TIME CREDIT RISK MONITORING</a:t>
            </a:r>
          </a:p>
          <a:p>
            <a:pPr algn="l" marL="509766" indent="-254883" lvl="1">
              <a:lnSpc>
                <a:spcPts val="2550"/>
              </a:lnSpc>
              <a:buFont typeface="Arial"/>
              <a:buChar char="•"/>
            </a:pPr>
            <a:r>
              <a:rPr lang="en-US" sz="2361" spc="-167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HELPS INSTITUTIONS MEET REGULATORY TRANSPARENCY REQUIREMENTS</a:t>
            </a:r>
          </a:p>
          <a:p>
            <a:pPr algn="l">
              <a:lnSpc>
                <a:spcPts val="2550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12315495" y="1152805"/>
            <a:ext cx="4385942" cy="3991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34"/>
              </a:lnSpc>
            </a:pPr>
            <a:r>
              <a:rPr lang="en-US" b="true" sz="2809" spc="-19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WEAKNESSES</a:t>
            </a:r>
          </a:p>
          <a:p>
            <a:pPr algn="l" marL="520260" indent="-260130" lvl="1">
              <a:lnSpc>
                <a:spcPts val="2602"/>
              </a:lnSpc>
              <a:buFont typeface="Arial"/>
              <a:buChar char="•"/>
            </a:pPr>
            <a:r>
              <a:rPr lang="en-US" sz="2409" spc="-17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Requires quality hist</a:t>
            </a:r>
            <a:r>
              <a:rPr lang="en-US" sz="2409" spc="-17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ORICAL DATA</a:t>
            </a:r>
          </a:p>
          <a:p>
            <a:pPr algn="l" marL="520260" indent="-260130" lvl="1">
              <a:lnSpc>
                <a:spcPts val="2602"/>
              </a:lnSpc>
              <a:buFont typeface="Arial"/>
              <a:buChar char="•"/>
            </a:pPr>
            <a:r>
              <a:rPr lang="en-US" sz="2409" spc="-17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MODEL TUNING CAN BE TIME-CONSUMING</a:t>
            </a:r>
          </a:p>
          <a:p>
            <a:pPr algn="l" marL="520260" indent="-260130" lvl="1">
              <a:lnSpc>
                <a:spcPts val="2602"/>
              </a:lnSpc>
              <a:buFont typeface="Arial"/>
              <a:buChar char="•"/>
            </a:pPr>
            <a:r>
              <a:rPr lang="en-US" sz="2409" spc="-17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COMPLEX MODELS MAY BE HARDER TO DEPLOY IN LEGACY SYSTEMS</a:t>
            </a:r>
          </a:p>
          <a:p>
            <a:pPr algn="l" marL="520260" indent="-260130" lvl="1">
              <a:lnSpc>
                <a:spcPts val="2602"/>
              </a:lnSpc>
              <a:buFont typeface="Arial"/>
              <a:buChar char="•"/>
            </a:pPr>
            <a:r>
              <a:rPr lang="en-US" sz="2409" spc="-17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EXPLAINABILITY METHODS MAY INCREASE COMPUTATIONAL COST</a:t>
            </a:r>
          </a:p>
          <a:p>
            <a:pPr algn="just">
              <a:lnSpc>
                <a:spcPts val="2494"/>
              </a:lnSpc>
            </a:pPr>
          </a:p>
        </p:txBody>
      </p:sp>
      <p:grpSp>
        <p:nvGrpSpPr>
          <p:cNvPr name="Group 29" id="29"/>
          <p:cNvGrpSpPr/>
          <p:nvPr/>
        </p:nvGrpSpPr>
        <p:grpSpPr>
          <a:xfrm rot="0">
            <a:off x="12315495" y="5313657"/>
            <a:ext cx="4719940" cy="4285708"/>
            <a:chOff x="0" y="0"/>
            <a:chExt cx="1243112" cy="112874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243112" cy="1128746"/>
            </a:xfrm>
            <a:custGeom>
              <a:avLst/>
              <a:gdLst/>
              <a:ahLst/>
              <a:cxnLst/>
              <a:rect r="r" b="b" t="t" l="l"/>
              <a:pathLst>
                <a:path h="1128746" w="1243112">
                  <a:moveTo>
                    <a:pt x="83653" y="0"/>
                  </a:moveTo>
                  <a:lnTo>
                    <a:pt x="1159459" y="0"/>
                  </a:lnTo>
                  <a:cubicBezTo>
                    <a:pt x="1181645" y="0"/>
                    <a:pt x="1202922" y="8813"/>
                    <a:pt x="1218610" y="24501"/>
                  </a:cubicBezTo>
                  <a:cubicBezTo>
                    <a:pt x="1234298" y="40189"/>
                    <a:pt x="1243112" y="61467"/>
                    <a:pt x="1243112" y="83653"/>
                  </a:cubicBezTo>
                  <a:lnTo>
                    <a:pt x="1243112" y="1045093"/>
                  </a:lnTo>
                  <a:cubicBezTo>
                    <a:pt x="1243112" y="1067279"/>
                    <a:pt x="1234298" y="1088557"/>
                    <a:pt x="1218610" y="1104245"/>
                  </a:cubicBezTo>
                  <a:cubicBezTo>
                    <a:pt x="1202922" y="1119933"/>
                    <a:pt x="1181645" y="1128746"/>
                    <a:pt x="1159459" y="1128746"/>
                  </a:cubicBezTo>
                  <a:lnTo>
                    <a:pt x="83653" y="1128746"/>
                  </a:lnTo>
                  <a:cubicBezTo>
                    <a:pt x="61467" y="1128746"/>
                    <a:pt x="40189" y="1119933"/>
                    <a:pt x="24501" y="1104245"/>
                  </a:cubicBezTo>
                  <a:cubicBezTo>
                    <a:pt x="8813" y="1088557"/>
                    <a:pt x="0" y="1067279"/>
                    <a:pt x="0" y="1045093"/>
                  </a:cubicBezTo>
                  <a:lnTo>
                    <a:pt x="0" y="83653"/>
                  </a:lnTo>
                  <a:cubicBezTo>
                    <a:pt x="0" y="61467"/>
                    <a:pt x="8813" y="40189"/>
                    <a:pt x="24501" y="24501"/>
                  </a:cubicBezTo>
                  <a:cubicBezTo>
                    <a:pt x="40189" y="8813"/>
                    <a:pt x="61467" y="0"/>
                    <a:pt x="83653" y="0"/>
                  </a:cubicBezTo>
                  <a:close/>
                </a:path>
              </a:pathLst>
            </a:custGeom>
            <a:solidFill>
              <a:srgbClr val="8FA4C1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243112" cy="11668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2561286" y="5450555"/>
            <a:ext cx="4140151" cy="4410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2"/>
              </a:lnSpc>
            </a:pPr>
            <a:r>
              <a:rPr lang="en-US" b="true" sz="2891" spc="-205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THREATS</a:t>
            </a:r>
          </a:p>
          <a:p>
            <a:pPr algn="l" marL="537887" indent="-268944" lvl="1">
              <a:lnSpc>
                <a:spcPts val="2690"/>
              </a:lnSpc>
              <a:buFont typeface="Arial"/>
              <a:buChar char="•"/>
            </a:pPr>
            <a:r>
              <a:rPr lang="en-US" sz="2491" spc="-17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DATA PRIVACY ISSUES</a:t>
            </a:r>
          </a:p>
          <a:p>
            <a:pPr algn="l" marL="537887" indent="-268944" lvl="1">
              <a:lnSpc>
                <a:spcPts val="2690"/>
              </a:lnSpc>
              <a:buFont typeface="Arial"/>
              <a:buChar char="•"/>
            </a:pPr>
            <a:r>
              <a:rPr lang="en-US" sz="2491" spc="-17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BIAS IN HISTORICAL DATA</a:t>
            </a:r>
          </a:p>
          <a:p>
            <a:pPr algn="l" marL="537887" indent="-268944" lvl="1">
              <a:lnSpc>
                <a:spcPts val="2690"/>
              </a:lnSpc>
              <a:buFont typeface="Arial"/>
              <a:buChar char="•"/>
            </a:pPr>
            <a:r>
              <a:rPr lang="en-US" sz="2491" spc="-17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REGULATORY CHANGES MAY RESTRICT AI-BASED DECISION SYSTEMS</a:t>
            </a:r>
          </a:p>
          <a:p>
            <a:pPr algn="l" marL="537887" indent="-268944" lvl="1">
              <a:lnSpc>
                <a:spcPts val="2690"/>
              </a:lnSpc>
              <a:buFont typeface="Arial"/>
              <a:buChar char="•"/>
            </a:pPr>
            <a:r>
              <a:rPr lang="en-US" sz="2491" spc="-17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ECONOMIC SHIFTS MAY REDUCE MODEL RELIABILITY OVER TIME</a:t>
            </a:r>
          </a:p>
          <a:p>
            <a:pPr algn="ctr">
              <a:lnSpc>
                <a:spcPts val="2315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162944" y="111299"/>
            <a:ext cx="2004384" cy="811159"/>
            <a:chOff x="0" y="0"/>
            <a:chExt cx="2672512" cy="1081545"/>
          </a:xfrm>
        </p:grpSpPr>
        <p:sp>
          <p:nvSpPr>
            <p:cNvPr name="Freeform 3" id="3" descr="A picture containing text, clipart  Description automatically generated"/>
            <p:cNvSpPr/>
            <p:nvPr/>
          </p:nvSpPr>
          <p:spPr>
            <a:xfrm flipH="false" flipV="false" rot="0">
              <a:off x="0" y="0"/>
              <a:ext cx="2672461" cy="1081532"/>
            </a:xfrm>
            <a:custGeom>
              <a:avLst/>
              <a:gdLst/>
              <a:ahLst/>
              <a:cxnLst/>
              <a:rect r="r" b="b" t="t" l="l"/>
              <a:pathLst>
                <a:path h="1081532" w="2672461">
                  <a:moveTo>
                    <a:pt x="0" y="0"/>
                  </a:moveTo>
                  <a:lnTo>
                    <a:pt x="2672461" y="0"/>
                  </a:lnTo>
                  <a:lnTo>
                    <a:pt x="2672461" y="1081532"/>
                  </a:lnTo>
                  <a:lnTo>
                    <a:pt x="0" y="10815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4695" r="-8057" b="-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6844" y="108318"/>
            <a:ext cx="18040483" cy="10070373"/>
            <a:chOff x="0" y="0"/>
            <a:chExt cx="24053978" cy="134271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053927" cy="13427202"/>
            </a:xfrm>
            <a:custGeom>
              <a:avLst/>
              <a:gdLst/>
              <a:ahLst/>
              <a:cxnLst/>
              <a:rect r="r" b="b" t="t" l="l"/>
              <a:pathLst>
                <a:path h="13427202" w="24053927">
                  <a:moveTo>
                    <a:pt x="28575" y="0"/>
                  </a:moveTo>
                  <a:lnTo>
                    <a:pt x="24025352" y="0"/>
                  </a:lnTo>
                  <a:cubicBezTo>
                    <a:pt x="24041100" y="0"/>
                    <a:pt x="24053927" y="12827"/>
                    <a:pt x="24053927" y="28575"/>
                  </a:cubicBezTo>
                  <a:lnTo>
                    <a:pt x="24053927" y="13398627"/>
                  </a:lnTo>
                  <a:cubicBezTo>
                    <a:pt x="24053927" y="13414375"/>
                    <a:pt x="24041100" y="13427202"/>
                    <a:pt x="24025352" y="13427202"/>
                  </a:cubicBezTo>
                  <a:lnTo>
                    <a:pt x="28575" y="13427202"/>
                  </a:lnTo>
                  <a:cubicBezTo>
                    <a:pt x="12827" y="13427202"/>
                    <a:pt x="0" y="13414375"/>
                    <a:pt x="0" y="13398627"/>
                  </a:cubicBezTo>
                  <a:lnTo>
                    <a:pt x="0" y="28575"/>
                  </a:lnTo>
                  <a:cubicBezTo>
                    <a:pt x="0" y="12827"/>
                    <a:pt x="12827" y="0"/>
                    <a:pt x="28575" y="0"/>
                  </a:cubicBezTo>
                  <a:moveTo>
                    <a:pt x="28575" y="57150"/>
                  </a:moveTo>
                  <a:lnTo>
                    <a:pt x="28575" y="28575"/>
                  </a:lnTo>
                  <a:lnTo>
                    <a:pt x="57150" y="28575"/>
                  </a:lnTo>
                  <a:lnTo>
                    <a:pt x="57150" y="13398627"/>
                  </a:lnTo>
                  <a:lnTo>
                    <a:pt x="28575" y="13398627"/>
                  </a:lnTo>
                  <a:lnTo>
                    <a:pt x="28575" y="13370052"/>
                  </a:lnTo>
                  <a:lnTo>
                    <a:pt x="24025352" y="13370052"/>
                  </a:lnTo>
                  <a:lnTo>
                    <a:pt x="24025352" y="13398627"/>
                  </a:lnTo>
                  <a:lnTo>
                    <a:pt x="23996777" y="13398627"/>
                  </a:lnTo>
                  <a:lnTo>
                    <a:pt x="23996777" y="28575"/>
                  </a:lnTo>
                  <a:lnTo>
                    <a:pt x="24025352" y="28575"/>
                  </a:lnTo>
                  <a:lnTo>
                    <a:pt x="24025352" y="57150"/>
                  </a:lnTo>
                  <a:lnTo>
                    <a:pt x="28575" y="57150"/>
                  </a:lnTo>
                  <a:close/>
                </a:path>
              </a:pathLst>
            </a:custGeom>
            <a:solidFill>
              <a:srgbClr val="46B0F9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651506" y="884358"/>
            <a:ext cx="1589190" cy="31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91"/>
              </a:lnSpc>
              <a:spcBef>
                <a:spcPct val="0"/>
              </a:spcBef>
            </a:pPr>
            <a:r>
              <a:rPr lang="en-US" b="true" sz="1851" spc="3">
                <a:solidFill>
                  <a:srgbClr val="F4F4F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88777" y="1890047"/>
            <a:ext cx="12404062" cy="8229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660"/>
              </a:lnSpc>
            </a:pPr>
          </a:p>
          <a:p>
            <a:pPr algn="just">
              <a:lnSpc>
                <a:spcPts val="3924"/>
              </a:lnSpc>
            </a:pPr>
          </a:p>
          <a:p>
            <a:pPr algn="just" marL="683375" indent="-341688" lvl="1">
              <a:lnSpc>
                <a:spcPts val="3924"/>
              </a:lnSpc>
              <a:buFont typeface="Arial"/>
              <a:buChar char="•"/>
            </a:pPr>
            <a:r>
              <a:rPr lang="en-US" sz="3165" spc="-202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Literature Review – 1 Week</a:t>
            </a:r>
          </a:p>
          <a:p>
            <a:pPr algn="just" marL="683375" indent="-341688" lvl="1">
              <a:lnSpc>
                <a:spcPts val="3924"/>
              </a:lnSpc>
              <a:buFont typeface="Arial"/>
              <a:buChar char="•"/>
            </a:pPr>
            <a:r>
              <a:rPr lang="en-US" sz="3165" spc="-202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Requirement Analysis &amp; </a:t>
            </a:r>
            <a:r>
              <a:rPr lang="en-US" sz="3165" spc="-202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Dataset Collection – 1 Week</a:t>
            </a:r>
          </a:p>
          <a:p>
            <a:pPr algn="just" marL="683375" indent="-341688" lvl="1">
              <a:lnSpc>
                <a:spcPts val="3924"/>
              </a:lnSpc>
              <a:buFont typeface="Arial"/>
              <a:buChar char="•"/>
            </a:pPr>
            <a:r>
              <a:rPr lang="en-US" sz="3165" spc="-202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Data Preprocessing &amp; Feature Engineering – 1 Week</a:t>
            </a:r>
          </a:p>
          <a:p>
            <a:pPr algn="just" marL="683375" indent="-341688" lvl="1">
              <a:lnSpc>
                <a:spcPts val="3924"/>
              </a:lnSpc>
              <a:buFont typeface="Arial"/>
              <a:buChar char="•"/>
            </a:pPr>
            <a:r>
              <a:rPr lang="en-US" sz="3165" spc="-202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Model Training (Logistic Regression, Random Forest, Gradient Boosting) – 2 Weeks</a:t>
            </a:r>
          </a:p>
          <a:p>
            <a:pPr algn="just" marL="683375" indent="-341688" lvl="1">
              <a:lnSpc>
                <a:spcPts val="3924"/>
              </a:lnSpc>
              <a:buFont typeface="Arial"/>
              <a:buChar char="•"/>
            </a:pPr>
            <a:r>
              <a:rPr lang="en-US" sz="3165" spc="-202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Probability Calibration – 1 Week</a:t>
            </a:r>
          </a:p>
          <a:p>
            <a:pPr algn="just" marL="683375" indent="-341688" lvl="1">
              <a:lnSpc>
                <a:spcPts val="3924"/>
              </a:lnSpc>
              <a:buFont typeface="Arial"/>
              <a:buChar char="•"/>
            </a:pPr>
            <a:r>
              <a:rPr lang="en-US" sz="3165" spc="-202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Model Evaluation &amp; Comparative Study – 1 Week</a:t>
            </a:r>
          </a:p>
          <a:p>
            <a:pPr algn="just" marL="683375" indent="-341688" lvl="1">
              <a:lnSpc>
                <a:spcPts val="3924"/>
              </a:lnSpc>
              <a:buFont typeface="Arial"/>
              <a:buChar char="•"/>
            </a:pPr>
            <a:r>
              <a:rPr lang="en-US" sz="3165" spc="-202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Explainability Integration (SHAP) – 1 Week</a:t>
            </a:r>
          </a:p>
          <a:p>
            <a:pPr algn="just" marL="683375" indent="-341688" lvl="1">
              <a:lnSpc>
                <a:spcPts val="3924"/>
              </a:lnSpc>
              <a:buFont typeface="Arial"/>
              <a:buChar char="•"/>
            </a:pPr>
            <a:r>
              <a:rPr lang="en-US" sz="3165" spc="-202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Risk Scoring System Development – 1 Week</a:t>
            </a:r>
          </a:p>
          <a:p>
            <a:pPr algn="just" marL="683375" indent="-341688" lvl="1">
              <a:lnSpc>
                <a:spcPts val="3924"/>
              </a:lnSpc>
              <a:buFont typeface="Arial"/>
              <a:buChar char="•"/>
            </a:pPr>
            <a:r>
              <a:rPr lang="en-US" sz="3165" spc="-202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Help Me Buddy Chatbot Design &amp; Development – 1 Week</a:t>
            </a:r>
          </a:p>
          <a:p>
            <a:pPr algn="just" marL="683375" indent="-341688" lvl="1">
              <a:lnSpc>
                <a:spcPts val="3924"/>
              </a:lnSpc>
              <a:buFont typeface="Arial"/>
              <a:buChar char="•"/>
            </a:pPr>
            <a:r>
              <a:rPr lang="en-US" sz="3165" spc="-202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System Integration &amp; Testing – 1 Week</a:t>
            </a:r>
          </a:p>
          <a:p>
            <a:pPr algn="just" marL="683375" indent="-341688" lvl="1">
              <a:lnSpc>
                <a:spcPts val="3924"/>
              </a:lnSpc>
              <a:buFont typeface="Arial"/>
              <a:buChar char="•"/>
            </a:pPr>
            <a:r>
              <a:rPr lang="en-US" sz="3165" spc="-202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Documentation &amp; Final Report – 1 Week</a:t>
            </a:r>
          </a:p>
          <a:p>
            <a:pPr algn="just">
              <a:lnSpc>
                <a:spcPts val="3924"/>
              </a:lnSpc>
            </a:pPr>
          </a:p>
          <a:p>
            <a:pPr algn="just">
              <a:lnSpc>
                <a:spcPts val="3924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588777" y="1162593"/>
            <a:ext cx="9388534" cy="832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145"/>
              </a:lnSpc>
            </a:pPr>
            <a:r>
              <a:rPr lang="en-US" b="true" sz="6827" spc="-396">
                <a:solidFill>
                  <a:srgbClr val="101B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Pert Chart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162944" y="111299"/>
            <a:ext cx="2004384" cy="811159"/>
            <a:chOff x="0" y="0"/>
            <a:chExt cx="2672512" cy="1081545"/>
          </a:xfrm>
        </p:grpSpPr>
        <p:sp>
          <p:nvSpPr>
            <p:cNvPr name="Freeform 3" id="3" descr="A picture containing text, clipart  Description automatically generated"/>
            <p:cNvSpPr/>
            <p:nvPr/>
          </p:nvSpPr>
          <p:spPr>
            <a:xfrm flipH="false" flipV="false" rot="0">
              <a:off x="0" y="0"/>
              <a:ext cx="2672461" cy="1081532"/>
            </a:xfrm>
            <a:custGeom>
              <a:avLst/>
              <a:gdLst/>
              <a:ahLst/>
              <a:cxnLst/>
              <a:rect r="r" b="b" t="t" l="l"/>
              <a:pathLst>
                <a:path h="1081532" w="2672461">
                  <a:moveTo>
                    <a:pt x="0" y="0"/>
                  </a:moveTo>
                  <a:lnTo>
                    <a:pt x="2672461" y="0"/>
                  </a:lnTo>
                  <a:lnTo>
                    <a:pt x="2672461" y="1081532"/>
                  </a:lnTo>
                  <a:lnTo>
                    <a:pt x="0" y="10815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4695" r="-8057" b="-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6844" y="108318"/>
            <a:ext cx="18040483" cy="10070373"/>
            <a:chOff x="0" y="0"/>
            <a:chExt cx="24053978" cy="134271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053927" cy="13427202"/>
            </a:xfrm>
            <a:custGeom>
              <a:avLst/>
              <a:gdLst/>
              <a:ahLst/>
              <a:cxnLst/>
              <a:rect r="r" b="b" t="t" l="l"/>
              <a:pathLst>
                <a:path h="13427202" w="24053927">
                  <a:moveTo>
                    <a:pt x="28575" y="0"/>
                  </a:moveTo>
                  <a:lnTo>
                    <a:pt x="24025352" y="0"/>
                  </a:lnTo>
                  <a:cubicBezTo>
                    <a:pt x="24041100" y="0"/>
                    <a:pt x="24053927" y="12827"/>
                    <a:pt x="24053927" y="28575"/>
                  </a:cubicBezTo>
                  <a:lnTo>
                    <a:pt x="24053927" y="13398627"/>
                  </a:lnTo>
                  <a:cubicBezTo>
                    <a:pt x="24053927" y="13414375"/>
                    <a:pt x="24041100" y="13427202"/>
                    <a:pt x="24025352" y="13427202"/>
                  </a:cubicBezTo>
                  <a:lnTo>
                    <a:pt x="28575" y="13427202"/>
                  </a:lnTo>
                  <a:cubicBezTo>
                    <a:pt x="12827" y="13427202"/>
                    <a:pt x="0" y="13414375"/>
                    <a:pt x="0" y="13398627"/>
                  </a:cubicBezTo>
                  <a:lnTo>
                    <a:pt x="0" y="28575"/>
                  </a:lnTo>
                  <a:cubicBezTo>
                    <a:pt x="0" y="12827"/>
                    <a:pt x="12827" y="0"/>
                    <a:pt x="28575" y="0"/>
                  </a:cubicBezTo>
                  <a:moveTo>
                    <a:pt x="28575" y="57150"/>
                  </a:moveTo>
                  <a:lnTo>
                    <a:pt x="28575" y="28575"/>
                  </a:lnTo>
                  <a:lnTo>
                    <a:pt x="57150" y="28575"/>
                  </a:lnTo>
                  <a:lnTo>
                    <a:pt x="57150" y="13398627"/>
                  </a:lnTo>
                  <a:lnTo>
                    <a:pt x="28575" y="13398627"/>
                  </a:lnTo>
                  <a:lnTo>
                    <a:pt x="28575" y="13370052"/>
                  </a:lnTo>
                  <a:lnTo>
                    <a:pt x="24025352" y="13370052"/>
                  </a:lnTo>
                  <a:lnTo>
                    <a:pt x="24025352" y="13398627"/>
                  </a:lnTo>
                  <a:lnTo>
                    <a:pt x="23996777" y="13398627"/>
                  </a:lnTo>
                  <a:lnTo>
                    <a:pt x="23996777" y="28575"/>
                  </a:lnTo>
                  <a:lnTo>
                    <a:pt x="24025352" y="28575"/>
                  </a:lnTo>
                  <a:lnTo>
                    <a:pt x="24025352" y="57150"/>
                  </a:lnTo>
                  <a:lnTo>
                    <a:pt x="28575" y="57150"/>
                  </a:lnTo>
                  <a:close/>
                </a:path>
              </a:pathLst>
            </a:custGeom>
            <a:solidFill>
              <a:srgbClr val="46B0F9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651506" y="884358"/>
            <a:ext cx="1589190" cy="31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91"/>
              </a:lnSpc>
              <a:spcBef>
                <a:spcPct val="0"/>
              </a:spcBef>
            </a:pPr>
            <a:r>
              <a:rPr lang="en-US" b="true" sz="1851" spc="3">
                <a:solidFill>
                  <a:srgbClr val="F4F4F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CONTENT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9729865" y="1975343"/>
            <a:ext cx="8558135" cy="5222049"/>
          </a:xfrm>
          <a:custGeom>
            <a:avLst/>
            <a:gdLst/>
            <a:ahLst/>
            <a:cxnLst/>
            <a:rect r="r" b="b" t="t" l="l"/>
            <a:pathLst>
              <a:path h="5222049" w="8558135">
                <a:moveTo>
                  <a:pt x="0" y="0"/>
                </a:moveTo>
                <a:lnTo>
                  <a:pt x="8558135" y="0"/>
                </a:lnTo>
                <a:lnTo>
                  <a:pt x="8558135" y="5222048"/>
                </a:lnTo>
                <a:lnTo>
                  <a:pt x="0" y="52220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961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1577986"/>
            <a:ext cx="8183598" cy="1042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679"/>
              </a:lnSpc>
            </a:pPr>
            <a:r>
              <a:rPr lang="en-US" b="true" sz="8532" spc="-494">
                <a:solidFill>
                  <a:srgbClr val="101B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Conclusion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2993598"/>
            <a:ext cx="8478560" cy="6876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50702" indent="-425351" lvl="1">
              <a:lnSpc>
                <a:spcPts val="4885"/>
              </a:lnSpc>
              <a:buFont typeface="Arial"/>
              <a:buChar char="•"/>
            </a:pPr>
            <a:r>
              <a:rPr lang="en-US" sz="3940" spc="-252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Develops an explainable and probabilistic credit risk prediction system</a:t>
            </a:r>
          </a:p>
          <a:p>
            <a:pPr algn="just" marL="850702" indent="-425351" lvl="1">
              <a:lnSpc>
                <a:spcPts val="4885"/>
              </a:lnSpc>
              <a:buFont typeface="Arial"/>
              <a:buChar char="•"/>
            </a:pPr>
            <a:r>
              <a:rPr lang="en-US" sz="3940" spc="-252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Helps financial institutions make accurate lending decisions</a:t>
            </a:r>
          </a:p>
          <a:p>
            <a:pPr algn="just" marL="850702" indent="-425351" lvl="1">
              <a:lnSpc>
                <a:spcPts val="4885"/>
              </a:lnSpc>
              <a:buFont typeface="Arial"/>
              <a:buChar char="•"/>
            </a:pPr>
            <a:r>
              <a:rPr lang="en-US" sz="3940" spc="-252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Ensures transparency in the decision-making process</a:t>
            </a:r>
          </a:p>
          <a:p>
            <a:pPr algn="just" marL="850702" indent="-425351" lvl="1">
              <a:lnSpc>
                <a:spcPts val="4885"/>
              </a:lnSpc>
              <a:buFont typeface="Arial"/>
              <a:buChar char="•"/>
            </a:pPr>
            <a:r>
              <a:rPr lang="en-US" sz="3940" spc="-252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Generates risk scores for each borrower</a:t>
            </a:r>
          </a:p>
          <a:p>
            <a:pPr algn="just" marL="850702" indent="-425351" lvl="1">
              <a:lnSpc>
                <a:spcPts val="4885"/>
              </a:lnSpc>
              <a:buFont typeface="Arial"/>
              <a:buChar char="•"/>
            </a:pPr>
            <a:r>
              <a:rPr lang="en-US" sz="3940" spc="-252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Enables effective borrower classification into risk categories</a:t>
            </a:r>
          </a:p>
          <a:p>
            <a:pPr algn="just" marL="850702" indent="-425351" lvl="1">
              <a:lnSpc>
                <a:spcPts val="4885"/>
              </a:lnSpc>
              <a:buFont typeface="Arial"/>
              <a:buChar char="•"/>
            </a:pPr>
            <a:r>
              <a:rPr lang="en-US" sz="3940" spc="-252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Supports better credit risk management</a:t>
            </a:r>
          </a:p>
          <a:p>
            <a:pPr algn="just">
              <a:lnSpc>
                <a:spcPts val="4885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162944" y="111299"/>
            <a:ext cx="2004384" cy="811159"/>
            <a:chOff x="0" y="0"/>
            <a:chExt cx="2672512" cy="1081545"/>
          </a:xfrm>
        </p:grpSpPr>
        <p:sp>
          <p:nvSpPr>
            <p:cNvPr name="Freeform 3" id="3" descr="A picture containing text, clipart  Description automatically generated"/>
            <p:cNvSpPr/>
            <p:nvPr/>
          </p:nvSpPr>
          <p:spPr>
            <a:xfrm flipH="false" flipV="false" rot="0">
              <a:off x="0" y="0"/>
              <a:ext cx="2672461" cy="1081532"/>
            </a:xfrm>
            <a:custGeom>
              <a:avLst/>
              <a:gdLst/>
              <a:ahLst/>
              <a:cxnLst/>
              <a:rect r="r" b="b" t="t" l="l"/>
              <a:pathLst>
                <a:path h="1081532" w="2672461">
                  <a:moveTo>
                    <a:pt x="0" y="0"/>
                  </a:moveTo>
                  <a:lnTo>
                    <a:pt x="2672461" y="0"/>
                  </a:lnTo>
                  <a:lnTo>
                    <a:pt x="2672461" y="1081532"/>
                  </a:lnTo>
                  <a:lnTo>
                    <a:pt x="0" y="10815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4695" r="-8057" b="-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6844" y="108318"/>
            <a:ext cx="18040483" cy="10070373"/>
            <a:chOff x="0" y="0"/>
            <a:chExt cx="24053978" cy="134271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053927" cy="13427202"/>
            </a:xfrm>
            <a:custGeom>
              <a:avLst/>
              <a:gdLst/>
              <a:ahLst/>
              <a:cxnLst/>
              <a:rect r="r" b="b" t="t" l="l"/>
              <a:pathLst>
                <a:path h="13427202" w="24053927">
                  <a:moveTo>
                    <a:pt x="28575" y="0"/>
                  </a:moveTo>
                  <a:lnTo>
                    <a:pt x="24025352" y="0"/>
                  </a:lnTo>
                  <a:cubicBezTo>
                    <a:pt x="24041100" y="0"/>
                    <a:pt x="24053927" y="12827"/>
                    <a:pt x="24053927" y="28575"/>
                  </a:cubicBezTo>
                  <a:lnTo>
                    <a:pt x="24053927" y="13398627"/>
                  </a:lnTo>
                  <a:cubicBezTo>
                    <a:pt x="24053927" y="13414375"/>
                    <a:pt x="24041100" y="13427202"/>
                    <a:pt x="24025352" y="13427202"/>
                  </a:cubicBezTo>
                  <a:lnTo>
                    <a:pt x="28575" y="13427202"/>
                  </a:lnTo>
                  <a:cubicBezTo>
                    <a:pt x="12827" y="13427202"/>
                    <a:pt x="0" y="13414375"/>
                    <a:pt x="0" y="13398627"/>
                  </a:cubicBezTo>
                  <a:lnTo>
                    <a:pt x="0" y="28575"/>
                  </a:lnTo>
                  <a:cubicBezTo>
                    <a:pt x="0" y="12827"/>
                    <a:pt x="12827" y="0"/>
                    <a:pt x="28575" y="0"/>
                  </a:cubicBezTo>
                  <a:moveTo>
                    <a:pt x="28575" y="57150"/>
                  </a:moveTo>
                  <a:lnTo>
                    <a:pt x="28575" y="28575"/>
                  </a:lnTo>
                  <a:lnTo>
                    <a:pt x="57150" y="28575"/>
                  </a:lnTo>
                  <a:lnTo>
                    <a:pt x="57150" y="13398627"/>
                  </a:lnTo>
                  <a:lnTo>
                    <a:pt x="28575" y="13398627"/>
                  </a:lnTo>
                  <a:lnTo>
                    <a:pt x="28575" y="13370052"/>
                  </a:lnTo>
                  <a:lnTo>
                    <a:pt x="24025352" y="13370052"/>
                  </a:lnTo>
                  <a:lnTo>
                    <a:pt x="24025352" y="13398627"/>
                  </a:lnTo>
                  <a:lnTo>
                    <a:pt x="23996777" y="13398627"/>
                  </a:lnTo>
                  <a:lnTo>
                    <a:pt x="23996777" y="28575"/>
                  </a:lnTo>
                  <a:lnTo>
                    <a:pt x="24025352" y="28575"/>
                  </a:lnTo>
                  <a:lnTo>
                    <a:pt x="24025352" y="57150"/>
                  </a:lnTo>
                  <a:lnTo>
                    <a:pt x="28575" y="57150"/>
                  </a:lnTo>
                  <a:close/>
                </a:path>
              </a:pathLst>
            </a:custGeom>
            <a:solidFill>
              <a:srgbClr val="46B0F9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651506" y="884358"/>
            <a:ext cx="1589190" cy="31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91"/>
              </a:lnSpc>
              <a:spcBef>
                <a:spcPct val="0"/>
              </a:spcBef>
            </a:pPr>
            <a:r>
              <a:rPr lang="en-US" b="true" sz="1851" spc="3">
                <a:solidFill>
                  <a:srgbClr val="F4F4F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CONTENT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5492906" y="1840347"/>
            <a:ext cx="1766394" cy="176639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1F1F1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028700" y="1350706"/>
            <a:ext cx="8183598" cy="1042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679"/>
              </a:lnSpc>
            </a:pPr>
            <a:r>
              <a:rPr lang="en-US" b="true" sz="8532" spc="-494">
                <a:solidFill>
                  <a:srgbClr val="101B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References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2647344"/>
            <a:ext cx="15596132" cy="5099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00024" indent="-350012" lvl="1">
              <a:lnSpc>
                <a:spcPts val="4020"/>
              </a:lnSpc>
              <a:buFont typeface="Arial"/>
              <a:buChar char="•"/>
            </a:pPr>
            <a:r>
              <a:rPr lang="en-US" sz="3242" spc="-207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Shreya &amp; Pathak, Explainable Artificial Intelligence Credit Risk Assessment using Machine Learning — arXiv, 2025. </a:t>
            </a:r>
          </a:p>
          <a:p>
            <a:pPr algn="just" marL="700024" indent="-350012" lvl="1">
              <a:lnSpc>
                <a:spcPts val="4020"/>
              </a:lnSpc>
              <a:buFont typeface="Arial"/>
              <a:buChar char="•"/>
            </a:pPr>
            <a:r>
              <a:rPr lang="en-US" sz="3242" spc="-207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Michael Raymond, Explainable AI in Credit Scoring: Balancing Accuracy and Transparency — ResearchGate, 2025. </a:t>
            </a:r>
          </a:p>
          <a:p>
            <a:pPr algn="just" marL="700024" indent="-350012" lvl="1">
              <a:lnSpc>
                <a:spcPts val="4020"/>
              </a:lnSpc>
              <a:buFont typeface="Arial"/>
              <a:buChar char="•"/>
            </a:pPr>
            <a:r>
              <a:rPr lang="en-US" sz="3242" spc="-207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Y. Chen, Measuring fairness in credit ratings — Expert Systems with Applications, 2024. </a:t>
            </a:r>
          </a:p>
          <a:p>
            <a:pPr algn="just" marL="700024" indent="-350012" lvl="1">
              <a:lnSpc>
                <a:spcPts val="4020"/>
              </a:lnSpc>
              <a:buFont typeface="Arial"/>
              <a:buChar char="•"/>
            </a:pPr>
            <a:r>
              <a:rPr lang="en-US" sz="3242" spc="-207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LO Hjelkrem, Explaining Deep Learning Models for Credit Scoring — Journal of Risk and Financial Management, 2023. </a:t>
            </a:r>
          </a:p>
          <a:p>
            <a:pPr algn="just" marL="700024" indent="-350012" lvl="1">
              <a:lnSpc>
                <a:spcPts val="4020"/>
              </a:lnSpc>
              <a:buFont typeface="Arial"/>
              <a:buChar char="•"/>
            </a:pPr>
            <a:r>
              <a:rPr lang="en-US" sz="3242" spc="-207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Explainable AI for Credit Risk Assessment — ResearchGate, 2025. </a:t>
            </a:r>
          </a:p>
          <a:p>
            <a:pPr algn="just" marL="700024" indent="-350012" lvl="1">
              <a:lnSpc>
                <a:spcPts val="4020"/>
              </a:lnSpc>
              <a:buFont typeface="Arial"/>
              <a:buChar char="•"/>
            </a:pPr>
            <a:r>
              <a:rPr lang="en-US" sz="3242" spc="-207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Explainable AI in Credit Scoring: Model Evaluation — IoT Journal / ResearchGate, 2025.</a:t>
            </a:r>
          </a:p>
          <a:p>
            <a:pPr algn="just">
              <a:lnSpc>
                <a:spcPts val="4020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162944" y="111299"/>
            <a:ext cx="2004384" cy="811159"/>
            <a:chOff x="0" y="0"/>
            <a:chExt cx="2672512" cy="1081545"/>
          </a:xfrm>
        </p:grpSpPr>
        <p:sp>
          <p:nvSpPr>
            <p:cNvPr name="Freeform 3" id="3" descr="A picture containing text, clipart  Description automatically generated"/>
            <p:cNvSpPr/>
            <p:nvPr/>
          </p:nvSpPr>
          <p:spPr>
            <a:xfrm flipH="false" flipV="false" rot="0">
              <a:off x="0" y="0"/>
              <a:ext cx="2672461" cy="1081532"/>
            </a:xfrm>
            <a:custGeom>
              <a:avLst/>
              <a:gdLst/>
              <a:ahLst/>
              <a:cxnLst/>
              <a:rect r="r" b="b" t="t" l="l"/>
              <a:pathLst>
                <a:path h="1081532" w="2672461">
                  <a:moveTo>
                    <a:pt x="0" y="0"/>
                  </a:moveTo>
                  <a:lnTo>
                    <a:pt x="2672461" y="0"/>
                  </a:lnTo>
                  <a:lnTo>
                    <a:pt x="2672461" y="1081532"/>
                  </a:lnTo>
                  <a:lnTo>
                    <a:pt x="0" y="10815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4695" r="-8057" b="-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6844" y="108318"/>
            <a:ext cx="18040483" cy="10070373"/>
            <a:chOff x="0" y="0"/>
            <a:chExt cx="24053978" cy="134271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053927" cy="13427202"/>
            </a:xfrm>
            <a:custGeom>
              <a:avLst/>
              <a:gdLst/>
              <a:ahLst/>
              <a:cxnLst/>
              <a:rect r="r" b="b" t="t" l="l"/>
              <a:pathLst>
                <a:path h="13427202" w="24053927">
                  <a:moveTo>
                    <a:pt x="28575" y="0"/>
                  </a:moveTo>
                  <a:lnTo>
                    <a:pt x="24025352" y="0"/>
                  </a:lnTo>
                  <a:cubicBezTo>
                    <a:pt x="24041100" y="0"/>
                    <a:pt x="24053927" y="12827"/>
                    <a:pt x="24053927" y="28575"/>
                  </a:cubicBezTo>
                  <a:lnTo>
                    <a:pt x="24053927" y="13398627"/>
                  </a:lnTo>
                  <a:cubicBezTo>
                    <a:pt x="24053927" y="13414375"/>
                    <a:pt x="24041100" y="13427202"/>
                    <a:pt x="24025352" y="13427202"/>
                  </a:cubicBezTo>
                  <a:lnTo>
                    <a:pt x="28575" y="13427202"/>
                  </a:lnTo>
                  <a:cubicBezTo>
                    <a:pt x="12827" y="13427202"/>
                    <a:pt x="0" y="13414375"/>
                    <a:pt x="0" y="13398627"/>
                  </a:cubicBezTo>
                  <a:lnTo>
                    <a:pt x="0" y="28575"/>
                  </a:lnTo>
                  <a:cubicBezTo>
                    <a:pt x="0" y="12827"/>
                    <a:pt x="12827" y="0"/>
                    <a:pt x="28575" y="0"/>
                  </a:cubicBezTo>
                  <a:moveTo>
                    <a:pt x="28575" y="57150"/>
                  </a:moveTo>
                  <a:lnTo>
                    <a:pt x="28575" y="28575"/>
                  </a:lnTo>
                  <a:lnTo>
                    <a:pt x="57150" y="28575"/>
                  </a:lnTo>
                  <a:lnTo>
                    <a:pt x="57150" y="13398627"/>
                  </a:lnTo>
                  <a:lnTo>
                    <a:pt x="28575" y="13398627"/>
                  </a:lnTo>
                  <a:lnTo>
                    <a:pt x="28575" y="13370052"/>
                  </a:lnTo>
                  <a:lnTo>
                    <a:pt x="24025352" y="13370052"/>
                  </a:lnTo>
                  <a:lnTo>
                    <a:pt x="24025352" y="13398627"/>
                  </a:lnTo>
                  <a:lnTo>
                    <a:pt x="23996777" y="13398627"/>
                  </a:lnTo>
                  <a:lnTo>
                    <a:pt x="23996777" y="28575"/>
                  </a:lnTo>
                  <a:lnTo>
                    <a:pt x="24025352" y="28575"/>
                  </a:lnTo>
                  <a:lnTo>
                    <a:pt x="24025352" y="57150"/>
                  </a:lnTo>
                  <a:lnTo>
                    <a:pt x="28575" y="57150"/>
                  </a:lnTo>
                  <a:close/>
                </a:path>
              </a:pathLst>
            </a:custGeom>
            <a:solidFill>
              <a:srgbClr val="46B0F9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651506" y="884358"/>
            <a:ext cx="1589190" cy="31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91"/>
              </a:lnSpc>
              <a:spcBef>
                <a:spcPct val="0"/>
              </a:spcBef>
            </a:pPr>
            <a:r>
              <a:rPr lang="en-US" b="true" sz="1851" spc="3">
                <a:solidFill>
                  <a:srgbClr val="F4F4F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CONTENT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230046" y="2282768"/>
            <a:ext cx="15767813" cy="3912159"/>
            <a:chOff x="0" y="0"/>
            <a:chExt cx="2442847" cy="60609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42847" cy="606096"/>
            </a:xfrm>
            <a:custGeom>
              <a:avLst/>
              <a:gdLst/>
              <a:ahLst/>
              <a:cxnLst/>
              <a:rect r="r" b="b" t="t" l="l"/>
              <a:pathLst>
                <a:path h="606096" w="2442847">
                  <a:moveTo>
                    <a:pt x="15712" y="0"/>
                  </a:moveTo>
                  <a:lnTo>
                    <a:pt x="2427135" y="0"/>
                  </a:lnTo>
                  <a:cubicBezTo>
                    <a:pt x="2431302" y="0"/>
                    <a:pt x="2435299" y="1655"/>
                    <a:pt x="2438245" y="4602"/>
                  </a:cubicBezTo>
                  <a:cubicBezTo>
                    <a:pt x="2441192" y="7548"/>
                    <a:pt x="2442847" y="11545"/>
                    <a:pt x="2442847" y="15712"/>
                  </a:cubicBezTo>
                  <a:lnTo>
                    <a:pt x="2442847" y="590384"/>
                  </a:lnTo>
                  <a:cubicBezTo>
                    <a:pt x="2442847" y="594551"/>
                    <a:pt x="2441192" y="598547"/>
                    <a:pt x="2438245" y="601494"/>
                  </a:cubicBezTo>
                  <a:cubicBezTo>
                    <a:pt x="2435299" y="604440"/>
                    <a:pt x="2431302" y="606096"/>
                    <a:pt x="2427135" y="606096"/>
                  </a:cubicBezTo>
                  <a:lnTo>
                    <a:pt x="15712" y="606096"/>
                  </a:lnTo>
                  <a:cubicBezTo>
                    <a:pt x="11545" y="606096"/>
                    <a:pt x="7548" y="604440"/>
                    <a:pt x="4602" y="601494"/>
                  </a:cubicBezTo>
                  <a:cubicBezTo>
                    <a:pt x="1655" y="598547"/>
                    <a:pt x="0" y="594551"/>
                    <a:pt x="0" y="590384"/>
                  </a:cubicBezTo>
                  <a:lnTo>
                    <a:pt x="0" y="15712"/>
                  </a:lnTo>
                  <a:cubicBezTo>
                    <a:pt x="0" y="11545"/>
                    <a:pt x="1655" y="7548"/>
                    <a:pt x="4602" y="4602"/>
                  </a:cubicBezTo>
                  <a:cubicBezTo>
                    <a:pt x="7548" y="1655"/>
                    <a:pt x="11545" y="0"/>
                    <a:pt x="15712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126972" r="0" b="-41557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5824920" y="1823406"/>
            <a:ext cx="1822999" cy="1822999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1F1F1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395354" y="2393840"/>
            <a:ext cx="682130" cy="682130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FA4C1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-335578" y="4238848"/>
            <a:ext cx="2235519" cy="1956080"/>
            <a:chOff x="0" y="0"/>
            <a:chExt cx="812800" cy="7112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1F1F1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1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5494591" y="7654248"/>
            <a:ext cx="7837596" cy="1042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679"/>
              </a:lnSpc>
            </a:pPr>
            <a:r>
              <a:rPr lang="en-US" b="true" sz="8532" spc="-494">
                <a:solidFill>
                  <a:srgbClr val="101B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DAG_uFrhAh0</dc:identifier>
  <dcterms:modified xsi:type="dcterms:W3CDTF">2011-08-01T06:04:30Z</dcterms:modified>
  <cp:revision>1</cp:revision>
  <dc:title>Synopsis_PPT.pptx</dc:title>
</cp:coreProperties>
</file>